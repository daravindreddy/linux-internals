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handoutMasterIdLst>
    <p:handoutMasterId r:id="rId18"/>
  </p:handoutMasterIdLst>
  <p:sldIdLst>
    <p:sldId id="256" r:id="rId2"/>
    <p:sldId id="265" r:id="rId3"/>
    <p:sldId id="276" r:id="rId4"/>
    <p:sldId id="281" r:id="rId5"/>
    <p:sldId id="278" r:id="rId6"/>
    <p:sldId id="280" r:id="rId7"/>
    <p:sldId id="282" r:id="rId8"/>
    <p:sldId id="283" r:id="rId9"/>
    <p:sldId id="285" r:id="rId10"/>
    <p:sldId id="284" r:id="rId11"/>
    <p:sldId id="287" r:id="rId12"/>
    <p:sldId id="286" r:id="rId13"/>
    <p:sldId id="288" r:id="rId14"/>
    <p:sldId id="289" r:id="rId15"/>
    <p:sldId id="290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 userDrawn="1">
          <p15:clr>
            <a:srgbClr val="A4A3A4"/>
          </p15:clr>
        </p15:guide>
        <p15:guide id="2" orient="horz" pos="21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>
      <p:cViewPr>
        <p:scale>
          <a:sx n="66" d="100"/>
          <a:sy n="66" d="100"/>
        </p:scale>
        <p:origin x="1282" y="528"/>
      </p:cViewPr>
      <p:guideLst>
        <p:guide pos="3840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howGuides="1">
      <p:cViewPr varScale="1">
        <p:scale>
          <a:sx n="63" d="100"/>
          <a:sy n="63" d="100"/>
        </p:scale>
        <p:origin x="2838" y="1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62B48F5-BACC-47D6-A0F7-82FBF9C6BC85}" type="datetimeFigureOut">
              <a:rPr lang="en-US"/>
              <a:t>3/15/2026</a:t>
            </a:fld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5ACAF8E-318A-4EFE-8633-D9E72ABCE0ED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4065597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CB1CD00-5424-4675-AB18-2C419B060449}" type="datetimeFigureOut">
              <a:rPr lang="en-US"/>
              <a:t>3/15/2026</a:t>
            </a:fld>
            <a:endParaRPr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EE2CF44-2B13-41B4-A334-1CDF534EEBBF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453856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 bwMode="gray">
          <a:xfrm>
            <a:off x="0" y="2825016"/>
            <a:ext cx="12188952" cy="3180930"/>
          </a:xfrm>
          <a:prstGeom prst="rect">
            <a:avLst/>
          </a:prstGeom>
          <a:solidFill>
            <a:schemeClr val="bg1">
              <a:lumMod val="85000"/>
              <a:lumOff val="15000"/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 userDrawn="1"/>
        </p:nvSpPr>
        <p:spPr bwMode="black">
          <a:xfrm>
            <a:off x="0" y="3075709"/>
            <a:ext cx="12188952" cy="263929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 bwMode="white">
          <a:xfrm>
            <a:off x="1066800" y="3165763"/>
            <a:ext cx="10058400" cy="1711037"/>
          </a:xfrm>
        </p:spPr>
        <p:txBody>
          <a:bodyPr anchor="b">
            <a:normAutofit/>
          </a:bodyPr>
          <a:lstStyle>
            <a:lvl1pPr algn="l">
              <a:lnSpc>
                <a:spcPct val="80000"/>
              </a:lnSpc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 bwMode="white">
          <a:xfrm>
            <a:off x="1066800" y="4953000"/>
            <a:ext cx="10058400" cy="685800"/>
          </a:xfrm>
        </p:spPr>
        <p:txBody>
          <a:bodyPr>
            <a:normAutofit/>
          </a:bodyPr>
          <a:lstStyle>
            <a:lvl1pPr marL="0" indent="0" algn="l">
              <a:spcBef>
                <a:spcPts val="0"/>
              </a:spcBef>
              <a:buNone/>
              <a:defRPr sz="2000">
                <a:solidFill>
                  <a:schemeClr val="accent1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88627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CC0096-1860-4642-9CD2-0079EA5E7CD1}" type="datetimeFigureOut">
              <a:rPr lang="en-US" smtClean="0"/>
              <a:t>3/15/2026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24441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24000" y="1828800"/>
            <a:ext cx="9144000" cy="2743200"/>
          </a:xfrm>
        </p:spPr>
        <p:txBody>
          <a:bodyPr anchor="b">
            <a:normAutofit/>
          </a:bodyPr>
          <a:lstStyle>
            <a:lvl1pPr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24000" y="4589463"/>
            <a:ext cx="9144000" cy="1506537"/>
          </a:xfrm>
        </p:spPr>
        <p:txBody>
          <a:bodyPr>
            <a:normAutofit/>
          </a:bodyPr>
          <a:lstStyle>
            <a:lvl1pPr marL="0" indent="0">
              <a:spcBef>
                <a:spcPts val="0"/>
              </a:spcBef>
              <a:buNone/>
              <a:defRPr sz="2000">
                <a:solidFill>
                  <a:schemeClr val="accent1"/>
                </a:solidFill>
                <a:latin typeface="+mj-lt"/>
              </a:defRPr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5067780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24000" y="1825625"/>
            <a:ext cx="4343400" cy="4270375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24600" y="1825625"/>
            <a:ext cx="4343400" cy="4270375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CC0096-1860-4642-9CD2-0079EA5E7CD1}" type="datetimeFigureOut">
              <a:rPr lang="en-US" smtClean="0"/>
              <a:t>3/15/2026</a:t>
            </a:fld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4567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27048" y="1828800"/>
            <a:ext cx="4343400" cy="685800"/>
          </a:xfrm>
        </p:spPr>
        <p:txBody>
          <a:bodyPr anchor="ctr">
            <a:normAutofit/>
          </a:bodyPr>
          <a:lstStyle>
            <a:lvl1pPr marL="0" indent="0">
              <a:spcBef>
                <a:spcPts val="0"/>
              </a:spcBef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27048" y="2514600"/>
            <a:ext cx="4343400" cy="3581401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27648" y="1828800"/>
            <a:ext cx="4343400" cy="685800"/>
          </a:xfrm>
        </p:spPr>
        <p:txBody>
          <a:bodyPr anchor="ctr">
            <a:normAutofit/>
          </a:bodyPr>
          <a:lstStyle>
            <a:lvl1pPr marL="0" indent="0">
              <a:spcBef>
                <a:spcPts val="0"/>
              </a:spcBef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27648" y="2514600"/>
            <a:ext cx="4343400" cy="3581401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CC0096-1860-4642-9CD2-0079EA5E7CD1}" type="datetimeFigureOut">
              <a:rPr lang="en-US" smtClean="0"/>
              <a:t>3/15/2026</a:t>
            </a:fld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79065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CC0096-1860-4642-9CD2-0079EA5E7CD1}" type="datetimeFigureOut">
              <a:rPr lang="en-US" smtClean="0"/>
              <a:t>3/15/2026</a:t>
            </a:fld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89767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CC0096-1860-4642-9CD2-0079EA5E7CD1}" type="datetimeFigureOut">
              <a:rPr lang="en-US" smtClean="0"/>
              <a:t>3/15/2026</a:t>
            </a:fld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68172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02587" y="1600200"/>
            <a:ext cx="3122613" cy="1828800"/>
          </a:xfrm>
        </p:spPr>
        <p:txBody>
          <a:bodyPr anchor="b">
            <a:normAutofit/>
          </a:bodyPr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0412" y="762000"/>
            <a:ext cx="6400800" cy="5334000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001039" y="3429000"/>
            <a:ext cx="3124161" cy="1828800"/>
          </a:xfrm>
        </p:spPr>
        <p:txBody>
          <a:bodyPr/>
          <a:lstStyle>
            <a:lvl1pPr marL="0" indent="0">
              <a:spcBef>
                <a:spcPts val="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CC0096-1860-4642-9CD2-0079EA5E7CD1}" type="datetimeFigureOut">
              <a:rPr lang="en-US" smtClean="0"/>
              <a:t>3/15/2026</a:t>
            </a:fld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73741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997952" y="1600200"/>
            <a:ext cx="3127248" cy="1828800"/>
          </a:xfrm>
        </p:spPr>
        <p:txBody>
          <a:bodyPr anchor="b">
            <a:normAutofit/>
          </a:bodyPr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781251" y="777240"/>
            <a:ext cx="6400800" cy="5303520"/>
          </a:xfrm>
        </p:spPr>
        <p:txBody>
          <a:bodyPr tIns="457200">
            <a:normAutofit/>
          </a:bodyPr>
          <a:lstStyle>
            <a:lvl1pPr marL="0" indent="0" algn="ctr">
              <a:buNone/>
              <a:defRPr sz="20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997952" y="3429000"/>
            <a:ext cx="3127248" cy="1828800"/>
          </a:xfrm>
        </p:spPr>
        <p:txBody>
          <a:bodyPr/>
          <a:lstStyle>
            <a:lvl1pPr marL="0" indent="0">
              <a:spcBef>
                <a:spcPts val="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Rectangle 7" descr="An empty placeholder to add an image. Click on the placeholder and select the image that you wish to add."/>
          <p:cNvSpPr/>
          <p:nvPr userDrawn="1"/>
        </p:nvSpPr>
        <p:spPr bwMode="blackWhite">
          <a:xfrm>
            <a:off x="644091" y="640080"/>
            <a:ext cx="6675120" cy="5577840"/>
          </a:xfrm>
          <a:prstGeom prst="rect">
            <a:avLst/>
          </a:prstGeom>
          <a:solidFill>
            <a:srgbClr val="000000"/>
          </a:solidFill>
          <a:ln w="101600">
            <a:solidFill>
              <a:schemeClr val="tx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CC0096-1860-4642-9CD2-0079EA5E7CD1}" type="datetimeFigureOut">
              <a:rPr lang="en-US" smtClean="0"/>
              <a:t>3/15/2026</a:t>
            </a:fld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72497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CC0096-1860-4642-9CD2-0079EA5E7CD1}" type="datetimeFigureOut">
              <a:rPr lang="en-US" smtClean="0"/>
              <a:t>3/15/2026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71542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57199"/>
            <a:ext cx="1943100" cy="56388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524000" y="457199"/>
            <a:ext cx="7048500" cy="563880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CC0096-1860-4642-9CD2-0079EA5E7CD1}" type="datetimeFigureOut">
              <a:rPr lang="en-US" smtClean="0"/>
              <a:t>3/15/2026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46350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524000" y="457200"/>
            <a:ext cx="9144000" cy="1143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24000" y="1828800"/>
            <a:ext cx="9144000" cy="4267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524000" y="6362700"/>
            <a:ext cx="6881553" cy="25717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8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610600" y="6362700"/>
            <a:ext cx="990600" cy="25717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>
                    <a:lumMod val="85000"/>
                  </a:schemeClr>
                </a:solidFill>
              </a:defRPr>
            </a:lvl1pPr>
          </a:lstStyle>
          <a:p>
            <a:fld id="{37CC0096-1860-4642-9CD2-0079EA5E7CD1}" type="datetimeFigureOut">
              <a:rPr lang="en-US" smtClean="0"/>
              <a:pPr/>
              <a:t>3/15/2026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829800" y="6362700"/>
            <a:ext cx="838200" cy="25717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>
                    <a:lumMod val="85000"/>
                  </a:schemeClr>
                </a:solidFill>
              </a:defRPr>
            </a:lvl1pPr>
          </a:lstStyle>
          <a:p>
            <a:fld id="{E31375A4-56A4-47D6-9801-1991572033F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325986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400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800"/>
        </a:spcBef>
        <a:buClr>
          <a:schemeClr val="accent1"/>
        </a:buClr>
        <a:buFont typeface="Arial" pitchFamily="34" charset="0"/>
        <a:buChar char="•"/>
        <a:defRPr sz="2000" kern="1200">
          <a:solidFill>
            <a:schemeClr val="tx1">
              <a:lumMod val="85000"/>
            </a:schemeClr>
          </a:solidFill>
          <a:latin typeface="+mn-lt"/>
          <a:ea typeface="+mn-ea"/>
          <a:cs typeface="+mn-cs"/>
        </a:defRPr>
      </a:lvl1pPr>
      <a:lvl2pPr marL="594360" indent="-228600" algn="l" defTabSz="914400" rtl="0" eaLnBrk="1" latinLnBrk="0" hangingPunct="1">
        <a:lnSpc>
          <a:spcPct val="90000"/>
        </a:lnSpc>
        <a:spcBef>
          <a:spcPts val="1000"/>
        </a:spcBef>
        <a:buClr>
          <a:schemeClr val="accent1"/>
        </a:buClr>
        <a:buFont typeface="Arial" pitchFamily="34" charset="0"/>
        <a:buChar char="•"/>
        <a:defRPr sz="1800" kern="1200">
          <a:solidFill>
            <a:schemeClr val="tx1">
              <a:lumMod val="85000"/>
            </a:schemeClr>
          </a:solidFill>
          <a:latin typeface="+mn-lt"/>
          <a:ea typeface="+mn-ea"/>
          <a:cs typeface="+mn-cs"/>
        </a:defRPr>
      </a:lvl2pPr>
      <a:lvl3pPr marL="914400" indent="-228600" algn="l" defTabSz="914400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Font typeface="Arial" pitchFamily="34" charset="0"/>
        <a:buChar char="•"/>
        <a:defRPr sz="1600" kern="1200">
          <a:solidFill>
            <a:schemeClr val="tx1">
              <a:lumMod val="85000"/>
            </a:schemeClr>
          </a:solidFill>
          <a:latin typeface="+mn-lt"/>
          <a:ea typeface="+mn-ea"/>
          <a:cs typeface="+mn-cs"/>
        </a:defRPr>
      </a:lvl3pPr>
      <a:lvl4pPr marL="1234440" indent="-228600" algn="l" defTabSz="914400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Font typeface="Arial" pitchFamily="34" charset="0"/>
        <a:buChar char="•"/>
        <a:defRPr sz="1400" kern="1200">
          <a:solidFill>
            <a:schemeClr val="tx1">
              <a:lumMod val="85000"/>
            </a:schemeClr>
          </a:solidFill>
          <a:latin typeface="+mn-lt"/>
          <a:ea typeface="+mn-ea"/>
          <a:cs typeface="+mn-cs"/>
        </a:defRPr>
      </a:lvl4pPr>
      <a:lvl5pPr marL="1508760" indent="-228600" algn="l" defTabSz="914400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Font typeface="Arial" pitchFamily="34" charset="0"/>
        <a:buChar char="•"/>
        <a:defRPr sz="1400" kern="1200">
          <a:solidFill>
            <a:schemeClr val="tx1">
              <a:lumMod val="85000"/>
            </a:schemeClr>
          </a:solidFill>
          <a:latin typeface="+mn-lt"/>
          <a:ea typeface="+mn-ea"/>
          <a:cs typeface="+mn-cs"/>
        </a:defRPr>
      </a:lvl5pPr>
      <a:lvl6pPr marL="1783080" indent="-228600" algn="l" defTabSz="914400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Font typeface="Arial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indent="-228600" algn="l" defTabSz="914400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Font typeface="Arial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2331720" indent="-228600" algn="l" defTabSz="914400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Font typeface="Arial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2606040" indent="-228600" algn="l" defTabSz="914400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Font typeface="Arial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N" dirty="0"/>
              <a:t>Version control system and CI/CD pipe lines</a:t>
            </a:r>
            <a:endParaRPr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IN" dirty="0"/>
              <a:t>Presented by Aravind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424538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Agenda</a:t>
            </a:r>
            <a:endParaRPr dirty="0"/>
          </a:p>
        </p:txBody>
      </p:sp>
      <p:sp>
        <p:nvSpPr>
          <p:cNvPr id="14" name="Content Placeholder 1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SDLC </a:t>
            </a:r>
            <a:endParaRPr dirty="0"/>
          </a:p>
          <a:p>
            <a:r>
              <a:rPr lang="en-IN" dirty="0"/>
              <a:t>Version Control system</a:t>
            </a:r>
            <a:endParaRPr dirty="0"/>
          </a:p>
          <a:p>
            <a:r>
              <a:rPr lang="en-IN" dirty="0"/>
              <a:t>CI/CD pipelines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0428263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7C39F0-E1C5-3283-23AE-4A499E862D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Introduction to SDLC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F70659-76BC-977F-30D4-CDB742F0D7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IN" dirty="0"/>
              <a:t>SDLC: Software Development Life Cycle is a structured process used to develop software efficiently and systematically.</a:t>
            </a:r>
          </a:p>
          <a:p>
            <a:r>
              <a:rPr lang="en-IN" dirty="0"/>
              <a:t>It defines the steps involved in building software.</a:t>
            </a:r>
          </a:p>
          <a:p>
            <a:r>
              <a:rPr lang="en-IN" dirty="0"/>
              <a:t>Phases of SDLC:</a:t>
            </a:r>
          </a:p>
          <a:p>
            <a:pPr marL="457200" indent="-457200">
              <a:buAutoNum type="arabicPeriod"/>
            </a:pPr>
            <a:r>
              <a:rPr lang="en-IN" dirty="0"/>
              <a:t>Requirement Analysis</a:t>
            </a:r>
          </a:p>
          <a:p>
            <a:pPr marL="457200" indent="-457200">
              <a:buAutoNum type="arabicPeriod"/>
            </a:pPr>
            <a:r>
              <a:rPr lang="en-IN" dirty="0"/>
              <a:t>System Design</a:t>
            </a:r>
          </a:p>
          <a:p>
            <a:pPr marL="457200" indent="-457200">
              <a:buAutoNum type="arabicPeriod"/>
            </a:pPr>
            <a:r>
              <a:rPr lang="en-IN" dirty="0"/>
              <a:t>Implementation</a:t>
            </a:r>
          </a:p>
          <a:p>
            <a:pPr marL="457200" indent="-457200">
              <a:buAutoNum type="arabicPeriod"/>
            </a:pPr>
            <a:r>
              <a:rPr lang="en-IN" dirty="0"/>
              <a:t>Testing</a:t>
            </a:r>
          </a:p>
          <a:p>
            <a:pPr marL="457200" indent="-457200">
              <a:buAutoNum type="arabicPeriod"/>
            </a:pPr>
            <a:r>
              <a:rPr lang="en-IN" dirty="0"/>
              <a:t>Development</a:t>
            </a:r>
          </a:p>
          <a:p>
            <a:pPr marL="457200" indent="-457200">
              <a:buAutoNum type="arabicPeriod"/>
            </a:pPr>
            <a:r>
              <a:rPr lang="en-IN" dirty="0"/>
              <a:t>Maintenance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449891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2854CA-5EF1-84EA-BEA9-D4AE92C221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02587" y="1600200"/>
            <a:ext cx="3122613" cy="1108720"/>
          </a:xfrm>
        </p:spPr>
        <p:txBody>
          <a:bodyPr/>
          <a:lstStyle/>
          <a:p>
            <a:r>
              <a:rPr lang="en-IN" dirty="0"/>
              <a:t>SDLC types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46DBA28E-528F-E2EA-1B05-A7C407D877F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60413" y="1295400"/>
            <a:ext cx="6400800" cy="4267200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8CF98EA-CA38-042F-58A8-5D8BA42901A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001039" y="2708920"/>
            <a:ext cx="3124161" cy="2548880"/>
          </a:xfrm>
        </p:spPr>
        <p:txBody>
          <a:bodyPr>
            <a:normAutofit/>
          </a:bodyPr>
          <a:lstStyle/>
          <a:p>
            <a:r>
              <a:rPr lang="en-IN" sz="2000" dirty="0"/>
              <a:t>Waterfall: It is a linear and sequential SDLC approach.</a:t>
            </a:r>
          </a:p>
          <a:p>
            <a:endParaRPr lang="en-IN" sz="2000" dirty="0"/>
          </a:p>
          <a:p>
            <a:r>
              <a:rPr lang="en-IN" sz="2000" dirty="0"/>
              <a:t>Agile: </a:t>
            </a:r>
            <a:r>
              <a:rPr lang="en-US" sz="2000" dirty="0"/>
              <a:t>Agile follows iterative development cycles (sprints).</a:t>
            </a:r>
          </a:p>
          <a:p>
            <a:endParaRPr lang="en-IN" sz="2000" dirty="0"/>
          </a:p>
        </p:txBody>
      </p:sp>
    </p:spTree>
    <p:extLst>
      <p:ext uri="{BB962C8B-B14F-4D97-AF65-F5344CB8AC3E}">
        <p14:creationId xmlns:p14="http://schemas.microsoft.com/office/powerpoint/2010/main" val="1654892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BB9CE8-12E2-4507-24E2-581DC4D368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Version Control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926599-5FC9-1608-E5B8-B106055C89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Version Control is a system that tracks changes in source code over time.</a:t>
            </a:r>
          </a:p>
          <a:p>
            <a:r>
              <a:rPr lang="en-IN" dirty="0"/>
              <a:t>It allows developers to:</a:t>
            </a:r>
          </a:p>
          <a:p>
            <a:pPr marL="457200" indent="-457200">
              <a:buAutoNum type="arabicPeriod"/>
            </a:pPr>
            <a:r>
              <a:rPr lang="en-IN" dirty="0"/>
              <a:t>Track code history</a:t>
            </a:r>
          </a:p>
          <a:p>
            <a:pPr marL="457200" indent="-457200">
              <a:buAutoNum type="arabicPeriod"/>
            </a:pPr>
            <a:r>
              <a:rPr lang="en-IN" dirty="0"/>
              <a:t>Collaborate with multiple developers</a:t>
            </a:r>
          </a:p>
          <a:p>
            <a:pPr marL="457200" indent="-457200">
              <a:buAutoNum type="arabicPeriod"/>
            </a:pPr>
            <a:r>
              <a:rPr lang="en-IN" dirty="0"/>
              <a:t>Restore previous versions</a:t>
            </a:r>
          </a:p>
          <a:p>
            <a:pPr marL="457200" indent="-457200">
              <a:buAutoNum type="arabicPeriod"/>
            </a:pPr>
            <a:r>
              <a:rPr lang="en-IN" dirty="0"/>
              <a:t>Manage code safety</a:t>
            </a:r>
          </a:p>
          <a:p>
            <a:r>
              <a:rPr lang="en-IN" dirty="0"/>
              <a:t>Example tools: Git, Subversion(SVN) </a:t>
            </a:r>
          </a:p>
        </p:txBody>
      </p:sp>
    </p:spTree>
    <p:extLst>
      <p:ext uri="{BB962C8B-B14F-4D97-AF65-F5344CB8AC3E}">
        <p14:creationId xmlns:p14="http://schemas.microsoft.com/office/powerpoint/2010/main" val="18346396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250584-5A4B-E2CD-9250-681EB76095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Types of Version Control Systems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82585CE2-E198-694B-F2DC-3B9B69654E6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895600" y="1828800"/>
            <a:ext cx="6400800" cy="426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234903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1B7D14-BED2-9BA3-3AAF-9D5071D380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Introduction to Git and </a:t>
            </a:r>
            <a:r>
              <a:rPr lang="en-IN" dirty="0" err="1"/>
              <a:t>Github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ED068F-F18F-F0A9-BC97-C92553F4D9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Git is the most popular version control system.</a:t>
            </a:r>
          </a:p>
          <a:p>
            <a:r>
              <a:rPr lang="en-IN" dirty="0"/>
              <a:t>Key features:</a:t>
            </a:r>
          </a:p>
          <a:p>
            <a:pPr marL="457200" indent="-457200">
              <a:buAutoNum type="arabicPeriod"/>
            </a:pPr>
            <a:r>
              <a:rPr lang="en-IN" dirty="0"/>
              <a:t>Distributed version control system</a:t>
            </a:r>
          </a:p>
          <a:p>
            <a:pPr marL="457200" indent="-457200">
              <a:buAutoNum type="arabicPeriod"/>
            </a:pPr>
            <a:r>
              <a:rPr lang="en-IN" dirty="0"/>
              <a:t>Branching and merging</a:t>
            </a:r>
          </a:p>
          <a:p>
            <a:pPr marL="457200" indent="-457200">
              <a:buAutoNum type="arabicPeriod"/>
            </a:pPr>
            <a:r>
              <a:rPr lang="en-IN" dirty="0"/>
              <a:t>Fast and efficient</a:t>
            </a:r>
          </a:p>
          <a:p>
            <a:r>
              <a:rPr lang="en-IN" dirty="0"/>
              <a:t>GitHub is a cloud platform that hosts Git repo.</a:t>
            </a:r>
          </a:p>
          <a:p>
            <a:r>
              <a:rPr lang="en-IN" dirty="0"/>
              <a:t>Eg: Developer-&gt;commit code -&gt; push to GitHub -&gt; Team members review.</a:t>
            </a:r>
          </a:p>
        </p:txBody>
      </p:sp>
    </p:spTree>
    <p:extLst>
      <p:ext uri="{BB962C8B-B14F-4D97-AF65-F5344CB8AC3E}">
        <p14:creationId xmlns:p14="http://schemas.microsoft.com/office/powerpoint/2010/main" val="31494494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EEB80D-91EA-7F55-4C8B-4BB8740DCD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Important keywords in version control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768056-DA76-A06F-C665-2162587759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Repository: It is a storage location where source code is stored.</a:t>
            </a:r>
          </a:p>
          <a:p>
            <a:r>
              <a:rPr lang="en-IN" dirty="0"/>
              <a:t>Commit: It is a snapshot of changes made to the project files.</a:t>
            </a:r>
          </a:p>
          <a:p>
            <a:r>
              <a:rPr lang="en-IN" dirty="0"/>
              <a:t>Branch: A branch is an independent line of development that allows developers to work on new features without affecting the main code.</a:t>
            </a:r>
          </a:p>
          <a:p>
            <a:r>
              <a:rPr lang="en-IN" dirty="0"/>
              <a:t>Merge: It combines changes from one branch to another branch.</a:t>
            </a:r>
          </a:p>
          <a:p>
            <a:r>
              <a:rPr lang="en-IN" dirty="0"/>
              <a:t>Clone: clone creates a copy of a remote repository on a local  machine.</a:t>
            </a:r>
          </a:p>
          <a:p>
            <a:r>
              <a:rPr lang="en-IN" dirty="0"/>
              <a:t>Push and pull:</a:t>
            </a:r>
          </a:p>
          <a:p>
            <a:pPr marL="0" indent="0">
              <a:buNone/>
            </a:pPr>
            <a:r>
              <a:rPr lang="en-IN" dirty="0"/>
              <a:t>Push – Upload local to remote repo.</a:t>
            </a:r>
          </a:p>
          <a:p>
            <a:pPr marL="0" indent="0">
              <a:buNone/>
            </a:pPr>
            <a:r>
              <a:rPr lang="en-IN" dirty="0"/>
              <a:t>Pull Download updates from a remote repo to local system.</a:t>
            </a:r>
          </a:p>
        </p:txBody>
      </p:sp>
    </p:spTree>
    <p:extLst>
      <p:ext uri="{BB962C8B-B14F-4D97-AF65-F5344CB8AC3E}">
        <p14:creationId xmlns:p14="http://schemas.microsoft.com/office/powerpoint/2010/main" val="38824991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69563E-442D-DEF4-DDE4-AED4ADD7F4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Stages of Version control(Git)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E04D45-8DE0-FA6F-9E28-96176497A2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Version control systems like Git manage code through several stages before storing it permanently.</a:t>
            </a:r>
          </a:p>
          <a:p>
            <a:pPr marL="457200" indent="-457200">
              <a:buAutoNum type="arabicPeriod"/>
            </a:pPr>
            <a:r>
              <a:rPr lang="en-IN" dirty="0"/>
              <a:t>Working Directory: The area where developers create and modify files in the project.</a:t>
            </a:r>
          </a:p>
          <a:p>
            <a:pPr marL="457200" indent="-457200">
              <a:buAutoNum type="arabicPeriod"/>
            </a:pPr>
            <a:r>
              <a:rPr lang="en-IN" dirty="0"/>
              <a:t>Staging Area: A temporary area where selected changes are prepared before committing.</a:t>
            </a:r>
          </a:p>
          <a:p>
            <a:pPr marL="457200" indent="-457200">
              <a:buAutoNum type="arabicPeriod"/>
            </a:pPr>
            <a:r>
              <a:rPr lang="en-IN" dirty="0"/>
              <a:t>Local Repo: Stores changes on the developer’s local machine with version history.</a:t>
            </a:r>
          </a:p>
          <a:p>
            <a:pPr marL="457200" indent="-457200">
              <a:buAutoNum type="arabicPeriod"/>
            </a:pPr>
            <a:r>
              <a:rPr lang="en-IN" dirty="0"/>
              <a:t>Remote Repo: A shared repo where developers push their code for collaboration.</a:t>
            </a:r>
          </a:p>
        </p:txBody>
      </p:sp>
    </p:spTree>
    <p:extLst>
      <p:ext uri="{BB962C8B-B14F-4D97-AF65-F5344CB8AC3E}">
        <p14:creationId xmlns:p14="http://schemas.microsoft.com/office/powerpoint/2010/main" val="11722767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DAA9F8-D880-1D73-7E2C-FEDD1039B9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80176" y="2514600"/>
            <a:ext cx="3122613" cy="1828800"/>
          </a:xfrm>
        </p:spPr>
        <p:txBody>
          <a:bodyPr/>
          <a:lstStyle/>
          <a:p>
            <a:r>
              <a:rPr lang="en-IN" dirty="0"/>
              <a:t>Workflow of Git and GitHub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EB0FE84C-610B-C79C-7C26-42B4DEB4E59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60413" y="1295400"/>
            <a:ext cx="6400800" cy="426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231688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8F68E535-4AA3-164E-7D2A-821944323F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What is CI/CD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1FC76F9-45C3-2565-0CF1-091855A144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CI/CD stands for: </a:t>
            </a:r>
          </a:p>
          <a:p>
            <a:pPr marL="0" indent="0">
              <a:buNone/>
            </a:pPr>
            <a:r>
              <a:rPr lang="en-IN" dirty="0"/>
              <a:t>Continuous Integration</a:t>
            </a:r>
          </a:p>
          <a:p>
            <a:pPr marL="0" indent="0">
              <a:buNone/>
            </a:pPr>
            <a:r>
              <a:rPr lang="en-IN" dirty="0"/>
              <a:t>Continuous Delivery/ Development</a:t>
            </a:r>
          </a:p>
          <a:p>
            <a:r>
              <a:rPr lang="en-IN" dirty="0"/>
              <a:t>It is a process that automates software building, testing and deployment.</a:t>
            </a:r>
          </a:p>
          <a:p>
            <a:r>
              <a:rPr lang="en-IN" dirty="0"/>
              <a:t>Benefits:</a:t>
            </a:r>
          </a:p>
          <a:p>
            <a:pPr marL="457200" indent="-457200">
              <a:buAutoNum type="arabicPeriod"/>
            </a:pPr>
            <a:r>
              <a:rPr lang="en-IN" dirty="0"/>
              <a:t>Faster development</a:t>
            </a:r>
          </a:p>
          <a:p>
            <a:pPr marL="457200" indent="-457200">
              <a:buAutoNum type="arabicPeriod"/>
            </a:pPr>
            <a:r>
              <a:rPr lang="en-IN" dirty="0"/>
              <a:t>Reduced human errors</a:t>
            </a:r>
          </a:p>
          <a:p>
            <a:pPr marL="457200" indent="-457200">
              <a:buAutoNum type="arabicPeriod"/>
            </a:pPr>
            <a:r>
              <a:rPr lang="en-IN" dirty="0"/>
              <a:t>Faster bug detection</a:t>
            </a:r>
          </a:p>
        </p:txBody>
      </p:sp>
    </p:spTree>
    <p:extLst>
      <p:ext uri="{BB962C8B-B14F-4D97-AF65-F5344CB8AC3E}">
        <p14:creationId xmlns:p14="http://schemas.microsoft.com/office/powerpoint/2010/main" val="204062344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BFC101DF-F452-2012-8B92-AA50D26130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CI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B7BE280-7421-8836-4078-6FEC6269FA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Developers frequently merge code into a shared repo.</a:t>
            </a:r>
          </a:p>
          <a:p>
            <a:r>
              <a:rPr lang="en-IN" dirty="0"/>
              <a:t>Example Tool: Jenkins</a:t>
            </a:r>
          </a:p>
          <a:p>
            <a:r>
              <a:rPr lang="en-IN" dirty="0"/>
              <a:t>After code commit</a:t>
            </a:r>
          </a:p>
          <a:p>
            <a:pPr marL="457200" indent="-457200">
              <a:buAutoNum type="arabicPeriod"/>
            </a:pPr>
            <a:r>
              <a:rPr lang="en-IN" dirty="0"/>
              <a:t>Code is automatically built</a:t>
            </a:r>
          </a:p>
          <a:p>
            <a:pPr marL="457200" indent="-457200">
              <a:buAutoNum type="arabicPeriod"/>
            </a:pPr>
            <a:r>
              <a:rPr lang="en-IN" dirty="0"/>
              <a:t>Automated test run</a:t>
            </a:r>
          </a:p>
          <a:p>
            <a:pPr marL="457200" indent="-457200">
              <a:buAutoNum type="arabicPeriod"/>
            </a:pPr>
            <a:r>
              <a:rPr lang="en-IN" dirty="0"/>
              <a:t>Error are detected early</a:t>
            </a:r>
          </a:p>
        </p:txBody>
      </p:sp>
    </p:spTree>
    <p:extLst>
      <p:ext uri="{BB962C8B-B14F-4D97-AF65-F5344CB8AC3E}">
        <p14:creationId xmlns:p14="http://schemas.microsoft.com/office/powerpoint/2010/main" val="271085064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AB0044-2A34-9E59-B409-8759E596FC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F4BDD0-099A-B616-60E4-A8F7E8D875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Both continuous delivery and deployment are same code changes are automatically prepared for release but continuous delivery require manual approval.</a:t>
            </a:r>
          </a:p>
          <a:p>
            <a:r>
              <a:rPr lang="en-US" dirty="0"/>
              <a:t>Example:</a:t>
            </a:r>
          </a:p>
          <a:p>
            <a:pPr marL="0" indent="0">
              <a:buNone/>
            </a:pPr>
            <a:r>
              <a:rPr lang="en-US" dirty="0"/>
              <a:t>1. Developer pushes code → CI builds → Tests run → CD deploys application.</a:t>
            </a:r>
            <a:endParaRPr lang="en-IN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2856385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E8B546-4E93-C89A-F57A-6F0C0DFF16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CI/CD pipeline workflow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47D9F26-86F2-FA62-2614-BF0BE61E9CA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60413" y="1295400"/>
            <a:ext cx="6400800" cy="426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924274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063CD4CD-0D8D-2F0F-AC69-4B8DF4B952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Conclusion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D292201-16C6-0500-9B57-3F734114C5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SDLC, Version Control, and CI/CD pipelines are essential for modern software development.</a:t>
            </a:r>
          </a:p>
          <a:p>
            <a:r>
              <a:rPr lang="en-IN" dirty="0"/>
              <a:t>They help teams:</a:t>
            </a:r>
          </a:p>
          <a:p>
            <a:pPr marL="457200" indent="-457200">
              <a:buAutoNum type="arabicPeriod"/>
            </a:pPr>
            <a:r>
              <a:rPr lang="en-IN" dirty="0"/>
              <a:t>Build software systematically</a:t>
            </a:r>
          </a:p>
          <a:p>
            <a:pPr marL="457200" indent="-457200">
              <a:buAutoNum type="arabicPeriod"/>
            </a:pPr>
            <a:r>
              <a:rPr lang="en-IN" dirty="0"/>
              <a:t>Manage code efficiently</a:t>
            </a:r>
          </a:p>
          <a:p>
            <a:pPr marL="457200" indent="-457200">
              <a:buAutoNum type="arabicPeriod"/>
            </a:pPr>
            <a:r>
              <a:rPr lang="en-IN" dirty="0"/>
              <a:t>Deliver updates quickly and reliably</a:t>
            </a:r>
          </a:p>
          <a:p>
            <a:r>
              <a:rPr lang="en-IN" dirty="0"/>
              <a:t>Using these tools improves productivity, quality, and scalability.</a:t>
            </a:r>
          </a:p>
          <a:p>
            <a:pPr marL="0" indent="0">
              <a:buNone/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59885270"/>
      </p:ext>
    </p:extLst>
  </p:cSld>
  <p:clrMapOvr>
    <a:masterClrMapping/>
  </p:clrMapOvr>
</p:sld>
</file>

<file path=ppt/theme/theme1.xml><?xml version="1.0" encoding="utf-8"?>
<a:theme xmlns:a="http://schemas.openxmlformats.org/drawingml/2006/main" name="Tech Computer 16x9">
  <a:themeElements>
    <a:clrScheme name="TechComputer">
      <a:dk1>
        <a:srgbClr val="000000"/>
      </a:dk1>
      <a:lt1>
        <a:sysClr val="window" lastClr="FFFFFF"/>
      </a:lt1>
      <a:dk2>
        <a:srgbClr val="4D4D4D"/>
      </a:dk2>
      <a:lt2>
        <a:srgbClr val="DDDDDD"/>
      </a:lt2>
      <a:accent1>
        <a:srgbClr val="92D050"/>
      </a:accent1>
      <a:accent2>
        <a:srgbClr val="F7C331"/>
      </a:accent2>
      <a:accent3>
        <a:srgbClr val="47B8C7"/>
      </a:accent3>
      <a:accent4>
        <a:srgbClr val="B074BA"/>
      </a:accent4>
      <a:accent5>
        <a:srgbClr val="F34D47"/>
      </a:accent5>
      <a:accent6>
        <a:srgbClr val="FA8F30"/>
      </a:accent6>
      <a:hlink>
        <a:srgbClr val="47B8C7"/>
      </a:hlink>
      <a:folHlink>
        <a:srgbClr val="969696"/>
      </a:folHlink>
    </a:clrScheme>
    <a:fontScheme name="Consolas-Candara">
      <a:majorFont>
        <a:latin typeface="Consolas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ndara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F02901026.potx" id="{FD85E87A-7813-4F67-9E59-69B5487A1910}" vid="{BDF94C36-3ACF-4CF1-939F-F4211E6D666F}"/>
    </a:ext>
  </a:extLst>
</a:theme>
</file>

<file path=ppt/theme/theme2.xml><?xml version="1.0" encoding="utf-8"?>
<a:theme xmlns:a="http://schemas.openxmlformats.org/drawingml/2006/main" name="Office Theme">
  <a:themeElements>
    <a:clrScheme name="TechComputer">
      <a:dk1>
        <a:srgbClr val="000000"/>
      </a:dk1>
      <a:lt1>
        <a:sysClr val="window" lastClr="FFFFFF"/>
      </a:lt1>
      <a:dk2>
        <a:srgbClr val="4D4D4D"/>
      </a:dk2>
      <a:lt2>
        <a:srgbClr val="DDDDDD"/>
      </a:lt2>
      <a:accent1>
        <a:srgbClr val="92D050"/>
      </a:accent1>
      <a:accent2>
        <a:srgbClr val="F7C331"/>
      </a:accent2>
      <a:accent3>
        <a:srgbClr val="47B8C7"/>
      </a:accent3>
      <a:accent4>
        <a:srgbClr val="B074BA"/>
      </a:accent4>
      <a:accent5>
        <a:srgbClr val="F34D47"/>
      </a:accent5>
      <a:accent6>
        <a:srgbClr val="FA8F30"/>
      </a:accent6>
      <a:hlink>
        <a:srgbClr val="47B8C7"/>
      </a:hlink>
      <a:folHlink>
        <a:srgbClr val="969696"/>
      </a:folHlink>
    </a:clrScheme>
    <a:fontScheme name="Consolas-Candara">
      <a:majorFont>
        <a:latin typeface="Consolas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ndara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TechComputer">
      <a:dk1>
        <a:srgbClr val="000000"/>
      </a:dk1>
      <a:lt1>
        <a:sysClr val="window" lastClr="FFFFFF"/>
      </a:lt1>
      <a:dk2>
        <a:srgbClr val="4D4D4D"/>
      </a:dk2>
      <a:lt2>
        <a:srgbClr val="DDDDDD"/>
      </a:lt2>
      <a:accent1>
        <a:srgbClr val="92D050"/>
      </a:accent1>
      <a:accent2>
        <a:srgbClr val="F7C331"/>
      </a:accent2>
      <a:accent3>
        <a:srgbClr val="47B8C7"/>
      </a:accent3>
      <a:accent4>
        <a:srgbClr val="B074BA"/>
      </a:accent4>
      <a:accent5>
        <a:srgbClr val="F34D47"/>
      </a:accent5>
      <a:accent6>
        <a:srgbClr val="FA8F30"/>
      </a:accent6>
      <a:hlink>
        <a:srgbClr val="47B8C7"/>
      </a:hlink>
      <a:folHlink>
        <a:srgbClr val="969696"/>
      </a:folHlink>
    </a:clrScheme>
    <a:fontScheme name="Consolas-Candara">
      <a:majorFont>
        <a:latin typeface="Consolas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ndara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Business technology circuit board design presentation (widescreen)</Template>
  <TotalTime>267</TotalTime>
  <Words>533</Words>
  <Application>Microsoft Office PowerPoint</Application>
  <PresentationFormat>Widescreen</PresentationFormat>
  <Paragraphs>81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Arial</vt:lpstr>
      <vt:lpstr>Candara</vt:lpstr>
      <vt:lpstr>Consolas</vt:lpstr>
      <vt:lpstr>Tech Computer 16x9</vt:lpstr>
      <vt:lpstr>Version control system and CI/CD pipe lines</vt:lpstr>
      <vt:lpstr>Agenda</vt:lpstr>
      <vt:lpstr>Introduction to SDLC </vt:lpstr>
      <vt:lpstr>SDLC types</vt:lpstr>
      <vt:lpstr>Version Control</vt:lpstr>
      <vt:lpstr>Types of Version Control Systems</vt:lpstr>
      <vt:lpstr>Introduction to Git and Github</vt:lpstr>
      <vt:lpstr>Important keywords in version control</vt:lpstr>
      <vt:lpstr>Stages of Version control(Git)</vt:lpstr>
      <vt:lpstr>Workflow of Git and GitHub</vt:lpstr>
      <vt:lpstr>What is CI/CD</vt:lpstr>
      <vt:lpstr>CI</vt:lpstr>
      <vt:lpstr>CD</vt:lpstr>
      <vt:lpstr>CI/CD pipeline workflow</vt:lpstr>
      <vt:lpstr>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aravind reddy</dc:creator>
  <cp:lastModifiedBy>aravind reddy</cp:lastModifiedBy>
  <cp:revision>2</cp:revision>
  <dcterms:created xsi:type="dcterms:W3CDTF">2026-03-15T14:03:25Z</dcterms:created>
  <dcterms:modified xsi:type="dcterms:W3CDTF">2026-03-15T18:30:48Z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nternalTags">
    <vt:lpwstr/>
  </property>
  <property fmtid="{D5CDD505-2E9C-101B-9397-08002B2CF9AE}" pid="3" name="ContentTypeId">
    <vt:lpwstr>0x0101006EDDDB5EE6D98C44930B742096920B300400F5B6D36B3EF94B4E9A635CDF2A18F5B8</vt:lpwstr>
  </property>
  <property fmtid="{D5CDD505-2E9C-101B-9397-08002B2CF9AE}" pid="4" name="FeatureTags">
    <vt:lpwstr/>
  </property>
  <property fmtid="{D5CDD505-2E9C-101B-9397-08002B2CF9AE}" pid="5" name="LocalizationTags">
    <vt:lpwstr/>
  </property>
  <property fmtid="{D5CDD505-2E9C-101B-9397-08002B2CF9AE}" pid="6" name="ScenarioTags">
    <vt:lpwstr/>
  </property>
  <property fmtid="{D5CDD505-2E9C-101B-9397-08002B2CF9AE}" pid="7" name="CampaignTags">
    <vt:lpwstr/>
  </property>
</Properties>
</file>