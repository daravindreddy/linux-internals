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_rels/presentation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523880" y="457200"/>
            <a:ext cx="9143640" cy="5297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1556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70724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152388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61556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770724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ubTitle"/>
          </p:nvPr>
        </p:nvSpPr>
        <p:spPr>
          <a:xfrm>
            <a:off x="1523880" y="457200"/>
            <a:ext cx="9143640" cy="5297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1556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770724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152388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body"/>
          </p:nvPr>
        </p:nvSpPr>
        <p:spPr>
          <a:xfrm>
            <a:off x="461556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770724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523880" y="457200"/>
            <a:ext cx="9143640" cy="52977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4266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1523880" y="4057560"/>
            <a:ext cx="91436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09280" y="182880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15238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09280" y="4057560"/>
            <a:ext cx="446184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61556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7707240" y="182880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152388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61556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7707240" y="4057560"/>
            <a:ext cx="2944080" cy="2035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824920"/>
            <a:ext cx="12188520" cy="318060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0" y="3075840"/>
            <a:ext cx="12188520" cy="263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1066680" y="3165840"/>
            <a:ext cx="10058040" cy="171072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80000"/>
              </a:lnSpc>
            </a:pPr>
            <a:r>
              <a:rPr b="0" lang="en-US" sz="5400" spc="-1" strike="noStrike">
                <a:solidFill>
                  <a:srgbClr val="ffffff"/>
                </a:solidFill>
                <a:latin typeface="Consolas"/>
              </a:rPr>
              <a:t>Click to edit Master </a:t>
            </a:r>
            <a:r>
              <a:rPr b="0" lang="en-US" sz="5400" spc="-1" strike="noStrike">
                <a:solidFill>
                  <a:srgbClr val="ffffff"/>
                </a:solidFill>
                <a:latin typeface="Consolas"/>
              </a:rPr>
              <a:t>title style</a:t>
            </a:r>
            <a:endParaRPr b="0" lang="en-US" sz="5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Click to edit the outline text format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d9d9d9"/>
                </a:solidFill>
                <a:latin typeface="Candara"/>
              </a:rPr>
              <a:t>Second Outline Level</a:t>
            </a:r>
            <a:endParaRPr b="0" lang="en-US" sz="1600" spc="-1" strike="noStrike">
              <a:solidFill>
                <a:srgbClr val="d9d9d9"/>
              </a:solidFill>
              <a:latin typeface="Candara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Third Outline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Fourth Outline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Fifth Outline Level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Sixth Outline Level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Seventh Outline Level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457200"/>
            <a:ext cx="9143640" cy="1142640"/>
          </a:xfrm>
          <a:prstGeom prst="rect">
            <a:avLst/>
          </a:prstGeom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Click to edit Master title style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523880" y="1828800"/>
            <a:ext cx="9143640" cy="426672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Click to edit Master text styles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lvl="1" marL="594360" indent="-228240">
              <a:lnSpc>
                <a:spcPct val="90000"/>
              </a:lnSpc>
              <a:spcBef>
                <a:spcPts val="1001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9d9d9"/>
                </a:solidFill>
                <a:latin typeface="Candara"/>
              </a:rPr>
              <a:t>Second level</a:t>
            </a:r>
            <a:endParaRPr b="0" lang="en-US" sz="1800" spc="-1" strike="noStrike">
              <a:solidFill>
                <a:srgbClr val="d9d9d9"/>
              </a:solidFill>
              <a:latin typeface="Candara"/>
            </a:endParaRPr>
          </a:p>
          <a:p>
            <a:pPr lvl="2" marL="91440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d9d9d9"/>
                </a:solidFill>
                <a:latin typeface="Candara"/>
              </a:rPr>
              <a:t>Third level</a:t>
            </a:r>
            <a:endParaRPr b="0" lang="en-US" sz="1600" spc="-1" strike="noStrike">
              <a:solidFill>
                <a:srgbClr val="d9d9d9"/>
              </a:solidFill>
              <a:latin typeface="Candara"/>
            </a:endParaRPr>
          </a:p>
          <a:p>
            <a:pPr lvl="3" marL="123444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Fourth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  <a:p>
            <a:pPr lvl="4" marL="150876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Fifth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/>
          </p:nvPr>
        </p:nvSpPr>
        <p:spPr>
          <a:xfrm>
            <a:off x="1523880" y="6362640"/>
            <a:ext cx="6881040" cy="2566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/>
          </p:nvPr>
        </p:nvSpPr>
        <p:spPr>
          <a:xfrm>
            <a:off x="8610480" y="6362640"/>
            <a:ext cx="990360" cy="256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2076A2CC-6B2F-4BB2-B063-4008C8EE6E28}" type="datetime">
              <a:rPr b="0" lang="en-IN" sz="1100" spc="-1" strike="noStrike">
                <a:solidFill>
                  <a:srgbClr val="d9d9d9"/>
                </a:solidFill>
                <a:latin typeface="Candara"/>
              </a:rPr>
              <a:t>16/03/26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/>
          </p:nvPr>
        </p:nvSpPr>
        <p:spPr>
          <a:xfrm>
            <a:off x="9829800" y="6362640"/>
            <a:ext cx="837720" cy="256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04CA9215-0C05-44F2-B40D-50154FF0B075}" type="slidenum">
              <a:rPr b="0" lang="en-IN" sz="1100" spc="-1" strike="noStrike">
                <a:solidFill>
                  <a:srgbClr val="d9d9d9"/>
                </a:solidFill>
                <a:latin typeface="Candara"/>
              </a:rPr>
              <a:t>1</a:t>
            </a:fld>
            <a:endParaRPr b="0" lang="en-IN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002440" y="1600200"/>
            <a:ext cx="3122280" cy="182844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Click to edit Master title style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60320" y="762120"/>
            <a:ext cx="6400440" cy="5333760"/>
          </a:xfrm>
          <a:prstGeom prst="rect">
            <a:avLst/>
          </a:prstGeom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Click to edit Master text styles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lvl="1" marL="594360" indent="-228240">
              <a:lnSpc>
                <a:spcPct val="90000"/>
              </a:lnSpc>
              <a:spcBef>
                <a:spcPts val="1001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d9d9d9"/>
                </a:solidFill>
                <a:latin typeface="Candara"/>
              </a:rPr>
              <a:t>Second level</a:t>
            </a:r>
            <a:endParaRPr b="0" lang="en-US" sz="1800" spc="-1" strike="noStrike">
              <a:solidFill>
                <a:srgbClr val="d9d9d9"/>
              </a:solidFill>
              <a:latin typeface="Candara"/>
            </a:endParaRPr>
          </a:p>
          <a:p>
            <a:pPr lvl="2" marL="91440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d9d9d9"/>
                </a:solidFill>
                <a:latin typeface="Candara"/>
              </a:rPr>
              <a:t>Third level</a:t>
            </a:r>
            <a:endParaRPr b="0" lang="en-US" sz="1600" spc="-1" strike="noStrike">
              <a:solidFill>
                <a:srgbClr val="d9d9d9"/>
              </a:solidFill>
              <a:latin typeface="Candara"/>
            </a:endParaRPr>
          </a:p>
          <a:p>
            <a:pPr lvl="3" marL="123444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Fourth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  <a:p>
            <a:pPr lvl="4" marL="1508760" indent="-228240">
              <a:lnSpc>
                <a:spcPct val="90000"/>
              </a:lnSpc>
              <a:spcBef>
                <a:spcPts val="799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d9d9d9"/>
                </a:solidFill>
                <a:latin typeface="Candara"/>
              </a:rPr>
              <a:t>Fifth level</a:t>
            </a:r>
            <a:endParaRPr b="0" lang="en-US" sz="14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8001000" y="3429000"/>
            <a:ext cx="3123720" cy="1828440"/>
          </a:xfrm>
          <a:prstGeom prst="rect">
            <a:avLst/>
          </a:prstGeom>
        </p:spPr>
        <p:txBody>
          <a:bodyPr/>
          <a:p>
            <a:pPr>
              <a:lnSpc>
                <a:spcPct val="90000"/>
              </a:lnSpc>
            </a:pPr>
            <a:r>
              <a:rPr b="0" lang="en-US" sz="1600" spc="-1" strike="noStrike">
                <a:solidFill>
                  <a:srgbClr val="d9d9d9"/>
                </a:solidFill>
                <a:latin typeface="Candara"/>
              </a:rPr>
              <a:t>Click to edit Master text styles</a:t>
            </a:r>
            <a:endParaRPr b="0" lang="en-US" sz="1600" spc="-1" strike="noStrike">
              <a:solidFill>
                <a:srgbClr val="d9d9d9"/>
              </a:solidFill>
              <a:latin typeface="Candara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ftr"/>
          </p:nvPr>
        </p:nvSpPr>
        <p:spPr>
          <a:xfrm>
            <a:off x="1523880" y="6362640"/>
            <a:ext cx="6881040" cy="256680"/>
          </a:xfrm>
          <a:prstGeom prst="rect">
            <a:avLst/>
          </a:prstGeom>
        </p:spPr>
        <p:txBody>
          <a:bodyPr anchor="ctr"/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dt"/>
          </p:nvPr>
        </p:nvSpPr>
        <p:spPr>
          <a:xfrm>
            <a:off x="8610480" y="6362640"/>
            <a:ext cx="990360" cy="256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0890F9BD-F037-41F9-B46B-9726254FAC7A}" type="datetime">
              <a:rPr b="0" lang="en-IN" sz="1100" spc="-1" strike="noStrike">
                <a:solidFill>
                  <a:srgbClr val="d9d9d9"/>
                </a:solidFill>
                <a:latin typeface="Candara"/>
              </a:rPr>
              <a:t>16/03/26</a:t>
            </a:fld>
            <a:endParaRPr b="0" lang="en-IN" sz="1100" spc="-1" strike="noStrike"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/>
          </p:nvPr>
        </p:nvSpPr>
        <p:spPr>
          <a:xfrm>
            <a:off x="9829800" y="6362640"/>
            <a:ext cx="837720" cy="256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1F6BB3EA-2655-4114-AB5E-290E2908F177}" type="slidenum">
              <a:rPr b="0" lang="en-IN" sz="1100" spc="-1" strike="noStrike">
                <a:solidFill>
                  <a:srgbClr val="d9d9d9"/>
                </a:solidFill>
                <a:latin typeface="Candara"/>
              </a:rPr>
              <a:t>1</a:t>
            </a:fld>
            <a:endParaRPr b="0" lang="en-IN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1066680" y="3165840"/>
            <a:ext cx="10058040" cy="171072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80000"/>
              </a:lnSpc>
            </a:pPr>
            <a:r>
              <a:rPr b="0" lang="en-US" sz="5400" spc="-1" strike="noStrike">
                <a:solidFill>
                  <a:srgbClr val="ffffff"/>
                </a:solidFill>
                <a:latin typeface="Consolas"/>
              </a:rPr>
              <a:t>Version control system and CI/CD pipe lines</a:t>
            </a:r>
            <a:endParaRPr b="0" lang="en-US" sz="5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1066680" y="4952880"/>
            <a:ext cx="10058040" cy="6854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90000"/>
              </a:lnSpc>
            </a:pPr>
            <a:r>
              <a:rPr b="0" lang="en-IN" sz="2000" spc="-1" strike="noStrike">
                <a:solidFill>
                  <a:srgbClr val="92d050"/>
                </a:solidFill>
                <a:latin typeface="Consolas"/>
              </a:rPr>
              <a:t>Presented by Aravind</a:t>
            </a:r>
            <a:endParaRPr b="0" lang="en-IN" sz="20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Agenda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SDLC 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Version Control system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CI/CD pipelines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Introduction to SDLC 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SDLC: Software Development Life Cycle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It defines the steps involved in building software.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Phases of SDLC: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Requirement Analysis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System Design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Implementation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Testing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Deployment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Maintenance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8002440" y="1600200"/>
            <a:ext cx="3122280" cy="11084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SDLC types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pic>
        <p:nvPicPr>
          <p:cNvPr id="130" name="Content Placeholder 4" descr=""/>
          <p:cNvPicPr/>
          <p:nvPr/>
        </p:nvPicPr>
        <p:blipFill>
          <a:blip r:embed="rId1"/>
          <a:stretch/>
        </p:blipFill>
        <p:spPr>
          <a:xfrm>
            <a:off x="760320" y="1295280"/>
            <a:ext cx="6400440" cy="4266720"/>
          </a:xfrm>
          <a:prstGeom prst="rect">
            <a:avLst/>
          </a:prstGeom>
          <a:ln>
            <a:noFill/>
          </a:ln>
        </p:spPr>
      </p:pic>
      <p:sp>
        <p:nvSpPr>
          <p:cNvPr id="131" name="TextShape 2"/>
          <p:cNvSpPr txBox="1"/>
          <p:nvPr/>
        </p:nvSpPr>
        <p:spPr>
          <a:xfrm>
            <a:off x="8001000" y="2709000"/>
            <a:ext cx="3123720" cy="2548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Waterfall: It is a linear and sequential SDLC approach.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Agile: Agile follows iterative development cycles (sprints).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Version Control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33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Version Control is a system that tracks changes in source code over time.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It allows developers to: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Track code history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Collaborate with multiple developers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Restore previous versions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Manage code safety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Example tools: Git, Subversion(SVN) 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Types of Version Control Systems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pic>
        <p:nvPicPr>
          <p:cNvPr id="135" name="Content Placeholder 3" descr=""/>
          <p:cNvPicPr/>
          <p:nvPr/>
        </p:nvPicPr>
        <p:blipFill>
          <a:blip r:embed="rId1"/>
          <a:stretch/>
        </p:blipFill>
        <p:spPr>
          <a:xfrm>
            <a:off x="1656000" y="1828800"/>
            <a:ext cx="8568000" cy="4507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Introduction to Git and Github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Git is the most popular version control system.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Key features: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Distributed version control system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Branching and merging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Fast and efficient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GitHub is a cloud platform that hosts Git repo.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Eg: Developer-&gt;commit code -&gt; push to GitHub -&gt; Team members review.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r>
              <a:rPr b="0" lang="en-US" sz="2400" spc="-1" strike="noStrike">
                <a:solidFill>
                  <a:srgbClr val="ffffff"/>
                </a:solidFill>
                <a:latin typeface="Candara"/>
              </a:rPr>
              <a:t>Difference between Git and GitHub</a:t>
            </a:r>
            <a:endParaRPr b="0" lang="en-US" sz="2400" spc="-1" strike="noStrike">
              <a:solidFill>
                <a:srgbClr val="ffffff"/>
              </a:solidFill>
              <a:latin typeface="Candara"/>
            </a:endParaRPr>
          </a:p>
        </p:txBody>
      </p:sp>
      <p:graphicFrame>
        <p:nvGraphicFramePr>
          <p:cNvPr id="139" name="Table 2"/>
          <p:cNvGraphicFramePr/>
          <p:nvPr/>
        </p:nvGraphicFramePr>
        <p:xfrm>
          <a:off x="1607400" y="1740600"/>
          <a:ext cx="8816400" cy="4368600"/>
        </p:xfrm>
        <a:graphic>
          <a:graphicData uri="http://schemas.openxmlformats.org/drawingml/2006/table">
            <a:tbl>
              <a:tblPr/>
              <a:tblGrid>
                <a:gridCol w="2334960"/>
                <a:gridCol w="2334960"/>
                <a:gridCol w="4146480"/>
              </a:tblGrid>
              <a:tr h="1004760"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Features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Git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GitHub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1004760"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Type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Version Control System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Cloud-based hosting platform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1004760"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Purpose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Tracks code changes locally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Stores and manages repositories online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1004760"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Internet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Not required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Requires internet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216000"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Usage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Used in local machine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/>
                    <a:p>
                      <a:r>
                        <a:rPr b="0" lang="en-IN" sz="1800" spc="-1" strike="noStrike">
                          <a:latin typeface="Arial"/>
                        </a:rPr>
                        <a:t>Used for collaboration and remote storage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Important keywords in version control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41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Repository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Commit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Branch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Merge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Clone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Push and pull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Stages of Version control(Git)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Version control systems like Git manage code through several stages before storing it permanently.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Working Directory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Staging Area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Local Repository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Remote Repository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7680240" y="2514600"/>
            <a:ext cx="3122280" cy="18284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Workflow of Git and GitHub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pic>
        <p:nvPicPr>
          <p:cNvPr id="145" name="Content Placeholder 4" descr=""/>
          <p:cNvPicPr/>
          <p:nvPr/>
        </p:nvPicPr>
        <p:blipFill>
          <a:blip r:embed="rId1"/>
          <a:stretch/>
        </p:blipFill>
        <p:spPr>
          <a:xfrm>
            <a:off x="760320" y="1295280"/>
            <a:ext cx="6400440" cy="4266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What is CI/CD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CI/CD stands for: 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Continuous Integration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Continuous Delivery/ Development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It is a process that automates software building, testing and deployment.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Benefits: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Faster development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Reduced human errors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Faster bug detection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CI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Developers frequently merge code into a shared repo.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Example Tool: Jenkins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After code commit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Code is automatically built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Automated test run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Error are detected early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6336000" y="2520000"/>
            <a:ext cx="4176000" cy="288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CD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Both continuous delivery and deployment are same code changes are automatically prepared for release but continuous delivery require manual approval.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Example: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1. Developer pushes code → CI builds → Tests run → CD deploys application.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8002440" y="1600200"/>
            <a:ext cx="3122280" cy="18284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CI/CD pipeline workflow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pic>
        <p:nvPicPr>
          <p:cNvPr id="154" name="Content Placeholder 4" descr=""/>
          <p:cNvPicPr/>
          <p:nvPr/>
        </p:nvPicPr>
        <p:blipFill>
          <a:blip r:embed="rId1"/>
          <a:stretch/>
        </p:blipFill>
        <p:spPr>
          <a:xfrm>
            <a:off x="760320" y="1295280"/>
            <a:ext cx="6400440" cy="4266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1523880" y="457200"/>
            <a:ext cx="9143640" cy="114264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90000"/>
              </a:lnSpc>
            </a:pPr>
            <a:r>
              <a:rPr b="0" lang="en-US" sz="3400" spc="-1" strike="noStrike">
                <a:solidFill>
                  <a:srgbClr val="92d050"/>
                </a:solidFill>
                <a:latin typeface="Consolas"/>
              </a:rPr>
              <a:t>Conclusion</a:t>
            </a:r>
            <a:endParaRPr b="0" lang="en-US" sz="3400" spc="-1" strike="noStrike">
              <a:solidFill>
                <a:srgbClr val="ffffff"/>
              </a:solidFill>
              <a:latin typeface="Candara"/>
            </a:endParaRPr>
          </a:p>
        </p:txBody>
      </p:sp>
      <p:sp>
        <p:nvSpPr>
          <p:cNvPr id="156" name="TextShape 2"/>
          <p:cNvSpPr txBox="1"/>
          <p:nvPr/>
        </p:nvSpPr>
        <p:spPr>
          <a:xfrm>
            <a:off x="1523880" y="1828800"/>
            <a:ext cx="9143640" cy="42667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SDLC, Version Control, and CI/CD pipelines are essential for modern software development.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They help teams: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Build software systematically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Manage code efficiently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457200" indent="-4568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AutoNum type="arabicPeriod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Deliver updates quickly and reliably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 marL="228600" indent="-228240">
              <a:lnSpc>
                <a:spcPct val="90000"/>
              </a:lnSpc>
              <a:spcBef>
                <a:spcPts val="1800"/>
              </a:spcBef>
              <a:buClr>
                <a:srgbClr val="92d05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d9d9d9"/>
                </a:solidFill>
                <a:latin typeface="Candara"/>
              </a:rPr>
              <a:t>Using these tools improves productivity, quality, and scalability.</a:t>
            </a: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  <a:p>
            <a:pPr>
              <a:lnSpc>
                <a:spcPct val="90000"/>
              </a:lnSpc>
              <a:spcBef>
                <a:spcPts val="1800"/>
              </a:spcBef>
            </a:pPr>
            <a:endParaRPr b="0" lang="en-US" sz="2000" spc="-1" strike="noStrike">
              <a:solidFill>
                <a:srgbClr val="d9d9d9"/>
              </a:solidFill>
              <a:latin typeface="Candara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319</TotalTime>
  <Application>LibreOffice/6.0.7.3$Linux_X86_64 LibreOffice_project/00m0$Build-3</Application>
  <Words>533</Words>
  <Paragraphs>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2026-03-15T14:03:25Z</dcterms:created>
  <dc:creator>aravind reddy</dc:creator>
  <dc:description/>
  <dc:language>en-IN</dc:language>
  <cp:lastModifiedBy/>
  <dcterms:modified xsi:type="dcterms:W3CDTF">2026-03-16T15:02:14Z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ampaignTags">
    <vt:lpwstr/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HiddenSlides">
    <vt:i4>0</vt:i4>
  </property>
  <property fmtid="{D5CDD505-2E9C-101B-9397-08002B2CF9AE}" pid="7" name="HyperlinksChanged">
    <vt:bool>0</vt:bool>
  </property>
  <property fmtid="{D5CDD505-2E9C-101B-9397-08002B2CF9AE}" pid="8" name="InternalTags">
    <vt:lpwstr/>
  </property>
  <property fmtid="{D5CDD505-2E9C-101B-9397-08002B2CF9AE}" pid="9" name="LinksUpToDate">
    <vt:bool>0</vt:bool>
  </property>
  <property fmtid="{D5CDD505-2E9C-101B-9397-08002B2CF9AE}" pid="10" name="LocalizationTags">
    <vt:lpwstr/>
  </property>
  <property fmtid="{D5CDD505-2E9C-101B-9397-08002B2CF9AE}" pid="11" name="MMClips">
    <vt:i4>0</vt:i4>
  </property>
  <property fmtid="{D5CDD505-2E9C-101B-9397-08002B2CF9AE}" pid="12" name="Notes">
    <vt:i4>0</vt:i4>
  </property>
  <property fmtid="{D5CDD505-2E9C-101B-9397-08002B2CF9AE}" pid="13" name="PresentationFormat">
    <vt:lpwstr>Widescreen</vt:lpwstr>
  </property>
  <property fmtid="{D5CDD505-2E9C-101B-9397-08002B2CF9AE}" pid="14" name="ScaleCrop">
    <vt:bool>0</vt:bool>
  </property>
  <property fmtid="{D5CDD505-2E9C-101B-9397-08002B2CF9AE}" pid="15" name="ScenarioTags">
    <vt:lpwstr/>
  </property>
  <property fmtid="{D5CDD505-2E9C-101B-9397-08002B2CF9AE}" pid="16" name="ShareDoc">
    <vt:bool>0</vt:bool>
  </property>
  <property fmtid="{D5CDD505-2E9C-101B-9397-08002B2CF9AE}" pid="17" name="Slides">
    <vt:i4>15</vt:i4>
  </property>
</Properties>
</file>