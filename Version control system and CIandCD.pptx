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23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16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_rels/presentation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slideLayout3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9.xml" ContentType="application/vnd.openxmlformats-officedocument.presentationml.slideLayout+xml"/>
  <Override PartName="/ppt/media/image5.png" ContentType="image/png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theme/theme3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docProps/core.xml" ContentType="application/vnd.openxmlformats-package.core-propertie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x="12192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4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5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2824920"/>
            <a:ext cx="12188160" cy="318024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CustomShape 2"/>
          <p:cNvSpPr/>
          <p:nvPr/>
        </p:nvSpPr>
        <p:spPr>
          <a:xfrm>
            <a:off x="0" y="3075840"/>
            <a:ext cx="12188160" cy="2638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" name="PlaceHolder 3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280" cy="114228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en-IN" sz="1800" spc="-1" strike="noStrike">
                <a:latin typeface="Arial"/>
              </a:rPr>
              <a:t>Click to </a:t>
            </a:r>
            <a:r>
              <a:rPr b="0" lang="en-IN" sz="1800" spc="-1" strike="noStrike">
                <a:latin typeface="Arial"/>
              </a:rPr>
              <a:t>edit the </a:t>
            </a:r>
            <a:r>
              <a:rPr b="0" lang="en-IN" sz="1800" spc="-1" strike="noStrike">
                <a:latin typeface="Arial"/>
              </a:rPr>
              <a:t>title text </a:t>
            </a:r>
            <a:r>
              <a:rPr b="0" lang="en-IN" sz="1800" spc="-1" strike="noStrike">
                <a:latin typeface="Arial"/>
              </a:rPr>
              <a:t>format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r>
              <a:rPr b="0" lang="en-IN" sz="4400" spc="-1" strike="noStrike">
                <a:latin typeface="Arial"/>
              </a:rPr>
              <a:t>Click to edit the title text 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r>
              <a:rPr b="0" lang="en-IN" sz="4400" spc="-1" strike="noStrike">
                <a:latin typeface="Arial"/>
              </a:rPr>
              <a:t>Click to edit the title text 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1066680" y="3165840"/>
            <a:ext cx="10057680" cy="1710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80000"/>
              </a:lnSpc>
            </a:pPr>
            <a:r>
              <a:rPr b="0" lang="en-IN" sz="5400" spc="-1" strike="noStrike">
                <a:solidFill>
                  <a:srgbClr val="000000"/>
                </a:solidFill>
                <a:latin typeface="Consolas"/>
              </a:rPr>
              <a:t>Version control system and CI/CD pipe lines</a:t>
            </a:r>
            <a:endParaRPr b="0" lang="en-IN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1066680" y="4952880"/>
            <a:ext cx="10057680" cy="68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90000"/>
              </a:lnSpc>
            </a:pPr>
            <a:r>
              <a:rPr b="0" lang="en-IN" sz="2000" spc="-1" strike="noStrike">
                <a:solidFill>
                  <a:srgbClr val="92d050"/>
                </a:solidFill>
                <a:latin typeface="Consolas"/>
              </a:rPr>
              <a:t>Presented by Aravind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Agenda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119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Project 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Version Control system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Jenkins CI/CD pipelines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3" dur="indefinite" restart="never" nodeType="tmRoot">
          <p:childTnLst>
            <p:seq>
              <p:cTn id="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Shape 1"/>
          <p:cNvSpPr txBox="1"/>
          <p:nvPr/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/>
          <a:p>
            <a:pPr algn="ctr"/>
            <a:r>
              <a:rPr b="0" lang="en-IN" sz="4400" spc="-1" strike="noStrike">
                <a:solidFill>
                  <a:srgbClr val="00a65d"/>
                </a:solidFill>
                <a:latin typeface="Arial"/>
              </a:rPr>
              <a:t>Introduction to project</a:t>
            </a:r>
            <a:endParaRPr b="0" lang="en-IN" sz="4400" spc="-1" strike="noStrike">
              <a:solidFill>
                <a:srgbClr val="00a65d"/>
              </a:solidFill>
              <a:latin typeface="Arial"/>
            </a:endParaRPr>
          </a:p>
        </p:txBody>
      </p:sp>
      <p:sp>
        <p:nvSpPr>
          <p:cNvPr id="121" name="TextShape 2"/>
          <p:cNvSpPr txBox="1"/>
          <p:nvPr/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Car Black Box is a system used to record vehicle data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Eg: To overcome negligence in the driving to earn extra money by illegal trips.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Similar to aircraft black box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Helps in accident analysis and safety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ed1c24"/>
                </a:solidFill>
                <a:latin typeface="Arial"/>
              </a:rPr>
              <a:t>Requirements: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ffffff"/>
                </a:solidFill>
                <a:latin typeface="Arial"/>
              </a:rPr>
              <a:t>1. Stores and display critical events (gear shifts, speed, time, accident detection)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ffffff"/>
                </a:solidFill>
                <a:latin typeface="Arial"/>
              </a:rPr>
              <a:t>2. System should allow a password base access(owner).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ffffff"/>
                </a:solidFill>
                <a:latin typeface="Arial"/>
              </a:rPr>
              <a:t>3. Dashboard setups, download, view logs, clear logs.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5" dur="indefinite" restart="never" nodeType="tmRoot">
          <p:childTnLst>
            <p:seq>
              <p:cTn id="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Shape 1"/>
          <p:cNvSpPr txBox="1"/>
          <p:nvPr/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/>
          <a:p>
            <a:r>
              <a:rPr b="0" lang="en-IN" sz="4400" spc="-1" strike="noStrike">
                <a:solidFill>
                  <a:srgbClr val="00a65d"/>
                </a:solidFill>
                <a:latin typeface="Arial"/>
              </a:rPr>
              <a:t>Components </a:t>
            </a:r>
            <a:endParaRPr b="0" lang="en-IN" sz="4400" spc="-1" strike="noStrike">
              <a:solidFill>
                <a:srgbClr val="00a65d"/>
              </a:solidFill>
              <a:latin typeface="Arial"/>
            </a:endParaRPr>
          </a:p>
        </p:txBody>
      </p:sp>
      <p:sp>
        <p:nvSpPr>
          <p:cNvPr id="123" name="TextShape 2"/>
          <p:cNvSpPr txBox="1"/>
          <p:nvPr/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PIC16F877A (microcontroller)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CLCD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RTC(i2c communication protocol)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DKP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External EEPROM (UART communication prorocol)</a:t>
            </a:r>
            <a:endParaRPr b="0" lang="en-IN" sz="20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Potentiometer(ADC peripheral)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7" dur="indefinite" restart="never" nodeType="tmRoot">
          <p:childTnLst>
            <p:seq>
              <p:cTn id="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936000" y="1008000"/>
            <a:ext cx="2448000" cy="1296000"/>
          </a:xfrm>
          <a:prstGeom prst="ellipse">
            <a:avLst/>
          </a:pr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/>
          <a:p>
            <a:pPr algn="ctr"/>
            <a:r>
              <a:rPr b="0" lang="en-IN" sz="1800" spc="-1" strike="noStrike">
                <a:solidFill>
                  <a:srgbClr val="5c2d91"/>
                </a:solidFill>
                <a:latin typeface="Arial"/>
              </a:rPr>
              <a:t>Dash</a:t>
            </a:r>
            <a:r>
              <a:rPr b="0" lang="en-IN" sz="1800" spc="-1" strike="noStrike">
                <a:solidFill>
                  <a:srgbClr val="5c2d91"/>
                </a:solidFill>
                <a:latin typeface="Arial"/>
              </a:rPr>
              <a:t>board </a:t>
            </a:r>
            <a:r>
              <a:rPr b="0" lang="en-IN" sz="1800" spc="-1" strike="noStrike">
                <a:solidFill>
                  <a:srgbClr val="5c2d91"/>
                </a:solidFill>
                <a:latin typeface="Arial"/>
              </a:rPr>
              <a:t>scree</a:t>
            </a:r>
            <a:r>
              <a:rPr b="0" lang="en-IN" sz="1800" spc="-1" strike="noStrike">
                <a:solidFill>
                  <a:srgbClr val="5c2d91"/>
                </a:solidFill>
                <a:latin typeface="Arial"/>
              </a:rPr>
              <a:t>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5112000" y="1008000"/>
            <a:ext cx="2448000" cy="1296000"/>
          </a:xfrm>
          <a:prstGeom prst="ellipse">
            <a:avLst/>
          </a:pr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/>
          <a:p>
            <a:pPr algn="ctr"/>
            <a:r>
              <a:rPr b="0" lang="en-IN" sz="1800" spc="-1" strike="noStrike">
                <a:solidFill>
                  <a:srgbClr val="5c2d91"/>
                </a:solidFill>
                <a:latin typeface="Arial"/>
              </a:rPr>
              <a:t>Login screen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9000000" y="1008000"/>
            <a:ext cx="2448000" cy="1296000"/>
          </a:xfrm>
          <a:prstGeom prst="ellipse">
            <a:avLst/>
          </a:pr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/>
          <a:p>
            <a:pPr algn="ctr"/>
            <a:r>
              <a:rPr b="0" lang="en-IN" sz="1800" spc="-1" strike="noStrike">
                <a:solidFill>
                  <a:srgbClr val="5c2d91"/>
                </a:solidFill>
                <a:latin typeface="Arial"/>
              </a:rPr>
              <a:t>Main menu screen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27" name="TextShape 4"/>
          <p:cNvSpPr txBox="1"/>
          <p:nvPr/>
        </p:nvSpPr>
        <p:spPr>
          <a:xfrm>
            <a:off x="1296000" y="2736000"/>
            <a:ext cx="206280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Time, gear events 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and speed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28" name="CustomShape 5"/>
          <p:cNvSpPr/>
          <p:nvPr/>
        </p:nvSpPr>
        <p:spPr>
          <a:xfrm>
            <a:off x="3672000" y="1368000"/>
            <a:ext cx="1368000" cy="648000"/>
          </a:xfrm>
          <a:custGeom>
            <a:avLst/>
            <a:gdLst/>
            <a:ahLst/>
            <a:rect l="0" t="0" r="r" b="b"/>
            <a:pathLst>
              <a:path w="3802" h="1801">
                <a:moveTo>
                  <a:pt x="0" y="450"/>
                </a:moveTo>
                <a:lnTo>
                  <a:pt x="2850" y="450"/>
                </a:lnTo>
                <a:lnTo>
                  <a:pt x="2850" y="0"/>
                </a:lnTo>
                <a:lnTo>
                  <a:pt x="3801" y="900"/>
                </a:lnTo>
                <a:lnTo>
                  <a:pt x="2850" y="1800"/>
                </a:lnTo>
                <a:lnTo>
                  <a:pt x="2850" y="1350"/>
                </a:lnTo>
                <a:lnTo>
                  <a:pt x="0" y="1350"/>
                </a:lnTo>
                <a:lnTo>
                  <a:pt x="0" y="4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CustomShape 6"/>
          <p:cNvSpPr/>
          <p:nvPr/>
        </p:nvSpPr>
        <p:spPr>
          <a:xfrm>
            <a:off x="7632000" y="1368000"/>
            <a:ext cx="1368000" cy="648000"/>
          </a:xfrm>
          <a:custGeom>
            <a:avLst/>
            <a:gdLst/>
            <a:ahLst/>
            <a:rect l="0" t="0" r="r" b="b"/>
            <a:pathLst>
              <a:path w="3802" h="1801">
                <a:moveTo>
                  <a:pt x="0" y="450"/>
                </a:moveTo>
                <a:lnTo>
                  <a:pt x="2850" y="450"/>
                </a:lnTo>
                <a:lnTo>
                  <a:pt x="2850" y="0"/>
                </a:lnTo>
                <a:lnTo>
                  <a:pt x="3801" y="900"/>
                </a:lnTo>
                <a:lnTo>
                  <a:pt x="2850" y="1800"/>
                </a:lnTo>
                <a:lnTo>
                  <a:pt x="2850" y="1350"/>
                </a:lnTo>
                <a:lnTo>
                  <a:pt x="0" y="1350"/>
                </a:lnTo>
                <a:lnTo>
                  <a:pt x="0" y="4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Shape 7"/>
          <p:cNvSpPr txBox="1"/>
          <p:nvPr/>
        </p:nvSpPr>
        <p:spPr>
          <a:xfrm>
            <a:off x="5256000" y="2664000"/>
            <a:ext cx="2146680" cy="85824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Enter the password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4-digit password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3 attempts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31" name="TextShape 8"/>
          <p:cNvSpPr txBox="1"/>
          <p:nvPr/>
        </p:nvSpPr>
        <p:spPr>
          <a:xfrm>
            <a:off x="9432000" y="2520000"/>
            <a:ext cx="2271600" cy="137016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1. View logs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2. Clear logs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3. Download logs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4. Change password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5. Set time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32" name="TextShape 9"/>
          <p:cNvSpPr txBox="1"/>
          <p:nvPr/>
        </p:nvSpPr>
        <p:spPr>
          <a:xfrm>
            <a:off x="7217640" y="2245680"/>
            <a:ext cx="20703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Password success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33" name="CustomShape 10"/>
          <p:cNvSpPr/>
          <p:nvPr/>
        </p:nvSpPr>
        <p:spPr>
          <a:xfrm>
            <a:off x="6120000" y="3522240"/>
            <a:ext cx="720000" cy="1373760"/>
          </a:xfrm>
          <a:custGeom>
            <a:avLst/>
            <a:gdLst/>
            <a:ahLst/>
            <a:rect l="0" t="0" r="r" b="b"/>
            <a:pathLst>
              <a:path w="2002" h="3818">
                <a:moveTo>
                  <a:pt x="500" y="0"/>
                </a:moveTo>
                <a:lnTo>
                  <a:pt x="500" y="2862"/>
                </a:lnTo>
                <a:lnTo>
                  <a:pt x="0" y="2862"/>
                </a:lnTo>
                <a:lnTo>
                  <a:pt x="1000" y="3817"/>
                </a:lnTo>
                <a:lnTo>
                  <a:pt x="2001" y="2862"/>
                </a:lnTo>
                <a:lnTo>
                  <a:pt x="1500" y="2862"/>
                </a:lnTo>
                <a:lnTo>
                  <a:pt x="1500" y="0"/>
                </a:lnTo>
                <a:lnTo>
                  <a:pt x="500" y="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Shape 11"/>
          <p:cNvSpPr txBox="1"/>
          <p:nvPr/>
        </p:nvSpPr>
        <p:spPr>
          <a:xfrm>
            <a:off x="2448000" y="3933720"/>
            <a:ext cx="376056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Incorrect password after 3 attempts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Block the login screen for 60sec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35" name="CustomShape 12"/>
          <p:cNvSpPr/>
          <p:nvPr/>
        </p:nvSpPr>
        <p:spPr>
          <a:xfrm>
            <a:off x="5040000" y="5112000"/>
            <a:ext cx="2880000" cy="936000"/>
          </a:xfrm>
          <a:prstGeom prst="ellipse">
            <a:avLst/>
          </a:pr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/>
          <a:p>
            <a:pPr algn="ctr"/>
            <a:r>
              <a:rPr b="0" lang="en-IN" sz="1800" spc="-1" strike="noStrike">
                <a:solidFill>
                  <a:srgbClr val="ed1c24"/>
                </a:solidFill>
                <a:latin typeface="Arial"/>
              </a:rPr>
              <a:t>Block Screen</a:t>
            </a:r>
            <a:endParaRPr b="0" lang="en-IN" sz="1800" spc="-1" strike="noStrike">
              <a:latin typeface="Arial"/>
            </a:endParaRPr>
          </a:p>
        </p:txBody>
      </p:sp>
    </p:spTree>
  </p:cSld>
  <p:timing>
    <p:tnLst>
      <p:par>
        <p:cTn id="9" dur="indefinite" restart="never" nodeType="tmRoot">
          <p:childTnLst>
            <p:seq>
              <p:cTn id="1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Introduction to SDLC 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137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rmAutofit/>
          </a:bodyPr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SDLC: Software Development Life Cycle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It defines the steps involved in building software.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Phases of SDLC: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Requirement Analysis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System Design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Implementation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Testing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Deployment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Maintenance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11" dur="indefinite" restart="never" nodeType="tmRoot">
          <p:childTnLst>
            <p:seq>
              <p:cTn id="1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8002440" y="1600200"/>
            <a:ext cx="3121920" cy="110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SDLC types</a:t>
            </a:r>
            <a:endParaRPr b="0" lang="en-IN" sz="3400" spc="-1" strike="noStrike">
              <a:latin typeface="Arial"/>
            </a:endParaRPr>
          </a:p>
        </p:txBody>
      </p:sp>
      <p:pic>
        <p:nvPicPr>
          <p:cNvPr id="139" name="Content Placeholder 4" descr=""/>
          <p:cNvPicPr/>
          <p:nvPr/>
        </p:nvPicPr>
        <p:blipFill>
          <a:blip r:embed="rId1"/>
          <a:stretch/>
        </p:blipFill>
        <p:spPr>
          <a:xfrm>
            <a:off x="760320" y="1295280"/>
            <a:ext cx="6400080" cy="4266360"/>
          </a:xfrm>
          <a:prstGeom prst="rect">
            <a:avLst/>
          </a:prstGeom>
          <a:ln>
            <a:noFill/>
          </a:ln>
        </p:spPr>
      </p:pic>
      <p:sp>
        <p:nvSpPr>
          <p:cNvPr id="140" name="CustomShape 2"/>
          <p:cNvSpPr/>
          <p:nvPr/>
        </p:nvSpPr>
        <p:spPr>
          <a:xfrm>
            <a:off x="8001000" y="2709000"/>
            <a:ext cx="3123360" cy="254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rmAutofit/>
          </a:bodyPr>
          <a:p>
            <a:pPr>
              <a:lnSpc>
                <a:spcPct val="90000"/>
              </a:lnSpc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Waterfall: It is a linear and sequential SDLC approach.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</a:pP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Agile: Agile follows iterative development cycles (sprints).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</a:pP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13" dur="indefinite" restart="never" nodeType="tmRoot">
          <p:childTnLst>
            <p:seq>
              <p:cTn id="1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Version Control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142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Version Control is a system that tracks changes in source code over time.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It allows developers to: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Track code history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Collaborate with multiple developers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Restore previous versions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Manage code safety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Example tools: Git, Subversion(SVN) 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15" dur="indefinite" restart="never" nodeType="tmRoot">
          <p:childTnLst>
            <p:seq>
              <p:cTn id="1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Types of Version Control Systems</a:t>
            </a:r>
            <a:endParaRPr b="0" lang="en-IN" sz="3400" spc="-1" strike="noStrike">
              <a:latin typeface="Arial"/>
            </a:endParaRPr>
          </a:p>
        </p:txBody>
      </p:sp>
      <p:pic>
        <p:nvPicPr>
          <p:cNvPr id="144" name="Content Placeholder 3" descr=""/>
          <p:cNvPicPr/>
          <p:nvPr/>
        </p:nvPicPr>
        <p:blipFill>
          <a:blip r:embed="rId1"/>
          <a:stretch/>
        </p:blipFill>
        <p:spPr>
          <a:xfrm>
            <a:off x="1656000" y="1828800"/>
            <a:ext cx="8567640" cy="45068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17" dur="indefinite" restart="never" nodeType="tmRoot">
          <p:childTnLst>
            <p:seq>
              <p:cTn id="1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Introduction to Git and Github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146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Git is the most popular version control system.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Key features: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Distributed version control system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Branching and merging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Fast and efficient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GitHub is a cloud platform that hosts Git repo.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Eg: Developer-&gt;commit code -&gt; push to GitHub -&gt; Team members review.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19" dur="indefinite" restart="never" nodeType="tmRoot">
          <p:childTnLst>
            <p:seq>
              <p:cTn id="2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ffffff"/>
                </a:solidFill>
                <a:latin typeface="Candara"/>
              </a:rPr>
              <a:t>Difference between Git and GitHub</a:t>
            </a:r>
            <a:endParaRPr b="0" lang="en-IN" sz="2400" spc="-1" strike="noStrike">
              <a:latin typeface="Arial"/>
            </a:endParaRPr>
          </a:p>
        </p:txBody>
      </p:sp>
      <p:graphicFrame>
        <p:nvGraphicFramePr>
          <p:cNvPr id="148" name="Table 2"/>
          <p:cNvGraphicFramePr/>
          <p:nvPr/>
        </p:nvGraphicFramePr>
        <p:xfrm>
          <a:off x="1607400" y="1740600"/>
          <a:ext cx="8816040" cy="4234680"/>
        </p:xfrm>
        <a:graphic>
          <a:graphicData uri="http://schemas.openxmlformats.org/drawingml/2006/table">
            <a:tbl>
              <a:tblPr/>
              <a:tblGrid>
                <a:gridCol w="2334960"/>
                <a:gridCol w="2334960"/>
                <a:gridCol w="4146480"/>
              </a:tblGrid>
              <a:tr h="90792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Features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Git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GitHub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90792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Type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Version Control System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Cloud-based hosting platform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90792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Purpose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Tracks code changes locally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Stores and manages repositories online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90792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Internet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Not required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Requires internet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0372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Usage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Used in local machine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800" spc="-1" strike="noStrike">
                          <a:latin typeface="Arial"/>
                        </a:rPr>
                        <a:t>Used for collaboration and remote storage</a:t>
                      </a:r>
                      <a:endParaRPr b="0" lang="en-IN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21" dur="indefinite" restart="never" nodeType="tmRoot">
          <p:childTnLst>
            <p:seq>
              <p:cTn id="2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Important keywords in version control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150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Repository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Commit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Branch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Merge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Clone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Push and pull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23" dur="indefinite" restart="never" nodeType="tmRoot">
          <p:childTnLst>
            <p:seq>
              <p:cTn id="2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Stages of Version control(Git)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152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Version control systems like Git manage code through several stages before storing it permanently.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Working Directory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Staging Area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Local Repository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Remote Repository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25" dur="indefinite" restart="never" nodeType="tmRoot">
          <p:childTnLst>
            <p:seq>
              <p:cTn id="2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" descr=""/>
          <p:cNvPicPr/>
          <p:nvPr/>
        </p:nvPicPr>
        <p:blipFill>
          <a:blip r:embed="rId1"/>
          <a:stretch/>
        </p:blipFill>
        <p:spPr>
          <a:xfrm>
            <a:off x="1089360" y="288000"/>
            <a:ext cx="10286640" cy="62654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27" dur="indefinite" restart="never" nodeType="tmRoot">
          <p:childTnLst>
            <p:seq>
              <p:cTn id="2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Shape 1"/>
          <p:cNvSpPr txBox="1"/>
          <p:nvPr/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/>
          <a:p>
            <a:pPr algn="ctr"/>
            <a:r>
              <a:rPr b="0" lang="en-IN" sz="4400" spc="-1" strike="noStrike">
                <a:solidFill>
                  <a:srgbClr val="00a65d"/>
                </a:solidFill>
                <a:latin typeface="Arial"/>
              </a:rPr>
              <a:t>Introduction to Jenkins</a:t>
            </a:r>
            <a:endParaRPr b="0" lang="en-IN" sz="4400" spc="-1" strike="noStrike">
              <a:solidFill>
                <a:srgbClr val="00a65d"/>
              </a:solidFill>
              <a:latin typeface="Arial"/>
            </a:endParaRPr>
          </a:p>
        </p:txBody>
      </p:sp>
      <p:sp>
        <p:nvSpPr>
          <p:cNvPr id="155" name="TextShape 2"/>
          <p:cNvSpPr txBox="1"/>
          <p:nvPr/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200" spc="-1" strike="noStrike">
                <a:solidFill>
                  <a:srgbClr val="ffffff"/>
                </a:solidFill>
                <a:latin typeface="Arial"/>
              </a:rPr>
              <a:t>Jenkins is an open-source automation server used to automate build, test, and deployment tasks.</a:t>
            </a:r>
            <a:endParaRPr b="0" lang="en-IN" sz="22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200" spc="-1" strike="noStrike">
                <a:solidFill>
                  <a:srgbClr val="ffffff"/>
                </a:solidFill>
                <a:latin typeface="Arial"/>
              </a:rPr>
              <a:t>In 2004 original name Hudson renamed it as Jenkins in 2011.</a:t>
            </a:r>
            <a:endParaRPr b="0" lang="en-IN" sz="22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200" spc="-1" strike="noStrike">
                <a:solidFill>
                  <a:srgbClr val="ffffff"/>
                </a:solidFill>
                <a:latin typeface="Arial"/>
              </a:rPr>
              <a:t>Why?</a:t>
            </a:r>
            <a:endParaRPr b="0" lang="en-IN" sz="22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200" spc="-1" strike="noStrike">
                <a:solidFill>
                  <a:srgbClr val="ffffff"/>
                </a:solidFill>
                <a:latin typeface="Arial"/>
              </a:rPr>
              <a:t>Speed up Development</a:t>
            </a:r>
            <a:endParaRPr b="0" lang="en-IN" sz="22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IN" sz="2200" spc="-1" strike="noStrike">
                <a:solidFill>
                  <a:srgbClr val="ffffff"/>
                </a:solidFill>
                <a:latin typeface="Arial"/>
              </a:rPr>
              <a:t>Supports CI/CD pipelines</a:t>
            </a:r>
            <a:endParaRPr b="0" lang="en-IN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timing>
    <p:tnLst>
      <p:par>
        <p:cTn id="29" dur="indefinite" restart="never" nodeType="tmRoot">
          <p:childTnLst>
            <p:seq>
              <p:cTn id="3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What is CI/CD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157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CI/CD stands for: 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Continuous Integration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Continuous Delivery/ Development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It is a process that automates software building, testing and deployment.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Benefits: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Faster development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Reduced human errors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Faster bug detection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31" dur="indefinite" restart="never" nodeType="tmRoot">
          <p:childTnLst>
            <p:seq>
              <p:cTn id="3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What is CI?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159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Developers frequently merge code into a shared repo.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Example Tool: Jenkins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Why CI?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1. Early Bug Detection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2. Frequent Code Integration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3. Improved Code Quality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4. Faster Development Cycle 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5. Better Team Collaboration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6. Reduced Integration Issues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33" dur="indefinite" restart="never" nodeType="tmRoot">
          <p:childTnLst>
            <p:seq>
              <p:cTn id="3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" descr=""/>
          <p:cNvPicPr/>
          <p:nvPr/>
        </p:nvPicPr>
        <p:blipFill>
          <a:blip r:embed="rId1"/>
          <a:stretch/>
        </p:blipFill>
        <p:spPr>
          <a:xfrm>
            <a:off x="992880" y="720000"/>
            <a:ext cx="10286640" cy="554400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35" dur="indefinite" restart="never" nodeType="tmRoot">
          <p:childTnLst>
            <p:seq>
              <p:cTn id="3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C</a:t>
            </a: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D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162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Cont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inuo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us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Deli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very: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Buil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and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test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will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don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auto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mati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cally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, but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depl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oym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ent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is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don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man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ually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. 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Cont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inuo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us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Depl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oye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men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t: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Buil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d,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test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and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depl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oye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men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t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don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auto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mati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cally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. 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W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hy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?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Fast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er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Rele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ases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,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Auto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mati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on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of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Depl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oym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ent,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Reli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able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Rele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ases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,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Quic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k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Feed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back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from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User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s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and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Cons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isten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cy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Ex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am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ple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: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Cod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e →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Buil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 →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Test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→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Depl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oy → 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Prod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ucti</a:t>
            </a: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on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37" dur="indefinite" restart="never" nodeType="tmRoot">
          <p:childTnLst>
            <p:seq>
              <p:cTn id="3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Shape 1"/>
          <p:cNvSpPr txBox="1"/>
          <p:nvPr/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/>
          <a:p>
            <a:pPr algn="ctr"/>
            <a:r>
              <a:rPr b="0" lang="en-IN" sz="4400" spc="-1" strike="noStrike">
                <a:solidFill>
                  <a:srgbClr val="00a65d"/>
                </a:solidFill>
                <a:latin typeface="Arial"/>
              </a:rPr>
              <a:t>Continuous Delivery</a:t>
            </a:r>
            <a:endParaRPr b="0" lang="en-IN" sz="4400" spc="-1" strike="noStrike">
              <a:solidFill>
                <a:srgbClr val="00a65d"/>
              </a:solidFill>
              <a:latin typeface="Arial"/>
            </a:endParaRPr>
          </a:p>
        </p:txBody>
      </p:sp>
      <p:sp>
        <p:nvSpPr>
          <p:cNvPr id="164" name="TextShape 2"/>
          <p:cNvSpPr txBox="1"/>
          <p:nvPr/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en-IN" sz="32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en-IN" sz="32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165" name="TextShape 3"/>
          <p:cNvSpPr txBox="1"/>
          <p:nvPr/>
        </p:nvSpPr>
        <p:spPr>
          <a:xfrm>
            <a:off x="1152000" y="1917720"/>
            <a:ext cx="201600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Deployment Environment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66" name="TextShape 4"/>
          <p:cNvSpPr txBox="1"/>
          <p:nvPr/>
        </p:nvSpPr>
        <p:spPr>
          <a:xfrm>
            <a:off x="4464000" y="1917720"/>
            <a:ext cx="187200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Staging Environment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67" name="TextShape 5"/>
          <p:cNvSpPr txBox="1"/>
          <p:nvPr/>
        </p:nvSpPr>
        <p:spPr>
          <a:xfrm>
            <a:off x="7704000" y="1989720"/>
            <a:ext cx="187200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Production Environment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68" name="CustomShape 6"/>
          <p:cNvSpPr/>
          <p:nvPr/>
        </p:nvSpPr>
        <p:spPr>
          <a:xfrm>
            <a:off x="2880000" y="2016000"/>
            <a:ext cx="1296000" cy="360000"/>
          </a:xfrm>
          <a:custGeom>
            <a:avLst/>
            <a:gdLst/>
            <a:ahLst/>
            <a:rect l="0" t="0" r="r" b="b"/>
            <a:pathLst>
              <a:path w="3601" h="1002">
                <a:moveTo>
                  <a:pt x="0" y="250"/>
                </a:moveTo>
                <a:lnTo>
                  <a:pt x="2700" y="250"/>
                </a:lnTo>
                <a:lnTo>
                  <a:pt x="2700" y="0"/>
                </a:lnTo>
                <a:lnTo>
                  <a:pt x="3600" y="500"/>
                </a:lnTo>
                <a:lnTo>
                  <a:pt x="2700" y="1001"/>
                </a:lnTo>
                <a:lnTo>
                  <a:pt x="2700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69" name="CustomShape 7"/>
          <p:cNvSpPr/>
          <p:nvPr/>
        </p:nvSpPr>
        <p:spPr>
          <a:xfrm>
            <a:off x="6120000" y="2061720"/>
            <a:ext cx="1224000" cy="432000"/>
          </a:xfrm>
          <a:custGeom>
            <a:avLst/>
            <a:gdLst/>
            <a:ahLst/>
            <a:rect l="0" t="0" r="r" b="b"/>
            <a:pathLst>
              <a:path w="3402" h="1202">
                <a:moveTo>
                  <a:pt x="0" y="300"/>
                </a:moveTo>
                <a:lnTo>
                  <a:pt x="2550" y="300"/>
                </a:lnTo>
                <a:lnTo>
                  <a:pt x="2550" y="0"/>
                </a:lnTo>
                <a:lnTo>
                  <a:pt x="3401" y="600"/>
                </a:lnTo>
                <a:lnTo>
                  <a:pt x="2550" y="1201"/>
                </a:lnTo>
                <a:lnTo>
                  <a:pt x="2550" y="900"/>
                </a:lnTo>
                <a:lnTo>
                  <a:pt x="0" y="900"/>
                </a:lnTo>
                <a:lnTo>
                  <a:pt x="0" y="30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TextShape 8"/>
          <p:cNvSpPr txBox="1"/>
          <p:nvPr/>
        </p:nvSpPr>
        <p:spPr>
          <a:xfrm>
            <a:off x="1197360" y="3853800"/>
            <a:ext cx="229752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Staging Environment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71" name="CustomShape 9"/>
          <p:cNvSpPr/>
          <p:nvPr/>
        </p:nvSpPr>
        <p:spPr>
          <a:xfrm>
            <a:off x="3717360" y="3781800"/>
            <a:ext cx="1440000" cy="504000"/>
          </a:xfrm>
          <a:custGeom>
            <a:avLst/>
            <a:gdLst/>
            <a:ahLst/>
            <a:rect l="0" t="0" r="r" b="b"/>
            <a:pathLst>
              <a:path w="4001" h="1401">
                <a:moveTo>
                  <a:pt x="0" y="350"/>
                </a:moveTo>
                <a:lnTo>
                  <a:pt x="3000" y="350"/>
                </a:lnTo>
                <a:lnTo>
                  <a:pt x="3000" y="0"/>
                </a:lnTo>
                <a:lnTo>
                  <a:pt x="4000" y="700"/>
                </a:lnTo>
                <a:lnTo>
                  <a:pt x="3000" y="1400"/>
                </a:lnTo>
                <a:lnTo>
                  <a:pt x="3000" y="1050"/>
                </a:lnTo>
                <a:lnTo>
                  <a:pt x="0" y="1050"/>
                </a:lnTo>
                <a:lnTo>
                  <a:pt x="0" y="3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TextShape 10"/>
          <p:cNvSpPr txBox="1"/>
          <p:nvPr/>
        </p:nvSpPr>
        <p:spPr>
          <a:xfrm>
            <a:off x="5733360" y="3925800"/>
            <a:ext cx="599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Test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73" name="TextShape 11"/>
          <p:cNvSpPr txBox="1"/>
          <p:nvPr/>
        </p:nvSpPr>
        <p:spPr>
          <a:xfrm>
            <a:off x="7893360" y="3565800"/>
            <a:ext cx="2114640" cy="111420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UI Testing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Load Testing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Integration Testing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Regression Testing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74" name="CustomShape 12"/>
          <p:cNvSpPr/>
          <p:nvPr/>
        </p:nvSpPr>
        <p:spPr>
          <a:xfrm>
            <a:off x="6669360" y="3853800"/>
            <a:ext cx="1080000" cy="432000"/>
          </a:xfrm>
          <a:custGeom>
            <a:avLst/>
            <a:gdLst/>
            <a:ahLst/>
            <a:rect l="0" t="0" r="r" b="b"/>
            <a:pathLst>
              <a:path w="3002" h="1202">
                <a:moveTo>
                  <a:pt x="0" y="300"/>
                </a:moveTo>
                <a:lnTo>
                  <a:pt x="2250" y="300"/>
                </a:lnTo>
                <a:lnTo>
                  <a:pt x="2250" y="0"/>
                </a:lnTo>
                <a:lnTo>
                  <a:pt x="3001" y="600"/>
                </a:lnTo>
                <a:lnTo>
                  <a:pt x="2250" y="1201"/>
                </a:lnTo>
                <a:lnTo>
                  <a:pt x="2250" y="900"/>
                </a:lnTo>
                <a:lnTo>
                  <a:pt x="0" y="900"/>
                </a:lnTo>
                <a:lnTo>
                  <a:pt x="0" y="30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39" dur="indefinite" restart="never" nodeType="tmRoot">
          <p:childTnLst>
            <p:seq>
              <p:cTn id="4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Shape 1"/>
          <p:cNvSpPr txBox="1"/>
          <p:nvPr/>
        </p:nvSpPr>
        <p:spPr>
          <a:xfrm>
            <a:off x="824400" y="1512000"/>
            <a:ext cx="155160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Staging encironment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2448000" y="161028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Shape 3"/>
          <p:cNvSpPr txBox="1"/>
          <p:nvPr/>
        </p:nvSpPr>
        <p:spPr>
          <a:xfrm>
            <a:off x="3672000" y="1656000"/>
            <a:ext cx="599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Test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78" name="CustomShape 4"/>
          <p:cNvSpPr/>
          <p:nvPr/>
        </p:nvSpPr>
        <p:spPr>
          <a:xfrm>
            <a:off x="4392000" y="161028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TextShape 5"/>
          <p:cNvSpPr txBox="1"/>
          <p:nvPr/>
        </p:nvSpPr>
        <p:spPr>
          <a:xfrm>
            <a:off x="5544000" y="1728000"/>
            <a:ext cx="180720" cy="427320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TextShape 6"/>
          <p:cNvSpPr txBox="1"/>
          <p:nvPr/>
        </p:nvSpPr>
        <p:spPr>
          <a:xfrm>
            <a:off x="5577480" y="1525680"/>
            <a:ext cx="68652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Build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81" name="TextShape 7"/>
          <p:cNvSpPr txBox="1"/>
          <p:nvPr/>
        </p:nvSpPr>
        <p:spPr>
          <a:xfrm>
            <a:off x="7632000" y="1656000"/>
            <a:ext cx="8895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Deploy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82" name="TextShape 8"/>
          <p:cNvSpPr txBox="1"/>
          <p:nvPr/>
        </p:nvSpPr>
        <p:spPr>
          <a:xfrm>
            <a:off x="9990360" y="4117680"/>
            <a:ext cx="116964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Customer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83" name="CustomShape 9"/>
          <p:cNvSpPr/>
          <p:nvPr/>
        </p:nvSpPr>
        <p:spPr>
          <a:xfrm>
            <a:off x="6336000" y="161028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CustomShape 10"/>
          <p:cNvSpPr/>
          <p:nvPr/>
        </p:nvSpPr>
        <p:spPr>
          <a:xfrm>
            <a:off x="8712000" y="172800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TextShape 11"/>
          <p:cNvSpPr txBox="1"/>
          <p:nvPr/>
        </p:nvSpPr>
        <p:spPr>
          <a:xfrm>
            <a:off x="1008000" y="720000"/>
            <a:ext cx="2219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Continuous Delivery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86" name="TextShape 12"/>
          <p:cNvSpPr txBox="1"/>
          <p:nvPr/>
        </p:nvSpPr>
        <p:spPr>
          <a:xfrm>
            <a:off x="6480000" y="2016000"/>
            <a:ext cx="1244520" cy="85824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Manual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Deploy to 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production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87" name="TextShape 13"/>
          <p:cNvSpPr txBox="1"/>
          <p:nvPr/>
        </p:nvSpPr>
        <p:spPr>
          <a:xfrm>
            <a:off x="792000" y="3964680"/>
            <a:ext cx="155160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Staging environment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88" name="CustomShape 14"/>
          <p:cNvSpPr/>
          <p:nvPr/>
        </p:nvSpPr>
        <p:spPr>
          <a:xfrm>
            <a:off x="2415600" y="406296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Shape 15"/>
          <p:cNvSpPr txBox="1"/>
          <p:nvPr/>
        </p:nvSpPr>
        <p:spPr>
          <a:xfrm>
            <a:off x="3639600" y="4108680"/>
            <a:ext cx="599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Test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90" name="CustomShape 16"/>
          <p:cNvSpPr/>
          <p:nvPr/>
        </p:nvSpPr>
        <p:spPr>
          <a:xfrm>
            <a:off x="4359600" y="406296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Shape 17"/>
          <p:cNvSpPr txBox="1"/>
          <p:nvPr/>
        </p:nvSpPr>
        <p:spPr>
          <a:xfrm>
            <a:off x="5511600" y="4180680"/>
            <a:ext cx="180720" cy="427320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TextShape 18"/>
          <p:cNvSpPr txBox="1"/>
          <p:nvPr/>
        </p:nvSpPr>
        <p:spPr>
          <a:xfrm>
            <a:off x="5545080" y="3978360"/>
            <a:ext cx="68652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Build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93" name="TextShape 19"/>
          <p:cNvSpPr txBox="1"/>
          <p:nvPr/>
        </p:nvSpPr>
        <p:spPr>
          <a:xfrm>
            <a:off x="7599600" y="4108680"/>
            <a:ext cx="8895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Deploy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94" name="CustomShape 20"/>
          <p:cNvSpPr/>
          <p:nvPr/>
        </p:nvSpPr>
        <p:spPr>
          <a:xfrm>
            <a:off x="6303600" y="406296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CustomShape 21"/>
          <p:cNvSpPr/>
          <p:nvPr/>
        </p:nvSpPr>
        <p:spPr>
          <a:xfrm>
            <a:off x="8679600" y="418068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TextShape 22"/>
          <p:cNvSpPr txBox="1"/>
          <p:nvPr/>
        </p:nvSpPr>
        <p:spPr>
          <a:xfrm>
            <a:off x="975600" y="3172680"/>
            <a:ext cx="261288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Continuous Deployment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97" name="TextShape 23"/>
          <p:cNvSpPr txBox="1"/>
          <p:nvPr/>
        </p:nvSpPr>
        <p:spPr>
          <a:xfrm>
            <a:off x="824760" y="1512360"/>
            <a:ext cx="155160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Staging environment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98" name="CustomShape 24"/>
          <p:cNvSpPr/>
          <p:nvPr/>
        </p:nvSpPr>
        <p:spPr>
          <a:xfrm>
            <a:off x="2448360" y="161064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Shape 25"/>
          <p:cNvSpPr txBox="1"/>
          <p:nvPr/>
        </p:nvSpPr>
        <p:spPr>
          <a:xfrm>
            <a:off x="3672360" y="1656360"/>
            <a:ext cx="599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Test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00" name="CustomShape 26"/>
          <p:cNvSpPr/>
          <p:nvPr/>
        </p:nvSpPr>
        <p:spPr>
          <a:xfrm>
            <a:off x="4392360" y="161064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TextShape 27"/>
          <p:cNvSpPr txBox="1"/>
          <p:nvPr/>
        </p:nvSpPr>
        <p:spPr>
          <a:xfrm>
            <a:off x="5544360" y="1728360"/>
            <a:ext cx="180720" cy="427320"/>
          </a:xfrm>
          <a:prstGeom prst="rect">
            <a:avLst/>
          </a:prstGeom>
          <a:noFill/>
          <a:ln>
            <a:noFill/>
          </a:ln>
        </p:spPr>
      </p:sp>
      <p:sp>
        <p:nvSpPr>
          <p:cNvPr id="202" name="TextShape 28"/>
          <p:cNvSpPr txBox="1"/>
          <p:nvPr/>
        </p:nvSpPr>
        <p:spPr>
          <a:xfrm>
            <a:off x="5577840" y="1526040"/>
            <a:ext cx="68652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Build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03" name="TextShape 29"/>
          <p:cNvSpPr txBox="1"/>
          <p:nvPr/>
        </p:nvSpPr>
        <p:spPr>
          <a:xfrm>
            <a:off x="7632360" y="1656360"/>
            <a:ext cx="8895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Deploy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04" name="CustomShape 30"/>
          <p:cNvSpPr/>
          <p:nvPr/>
        </p:nvSpPr>
        <p:spPr>
          <a:xfrm>
            <a:off x="6336360" y="161064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CustomShape 31"/>
          <p:cNvSpPr/>
          <p:nvPr/>
        </p:nvSpPr>
        <p:spPr>
          <a:xfrm>
            <a:off x="8712360" y="1728360"/>
            <a:ext cx="936000" cy="261720"/>
          </a:xfrm>
          <a:custGeom>
            <a:avLst/>
            <a:gdLst/>
            <a:ahLst/>
            <a:rect l="0" t="0" r="r" b="b"/>
            <a:pathLst>
              <a:path w="2602" h="728">
                <a:moveTo>
                  <a:pt x="0" y="181"/>
                </a:moveTo>
                <a:lnTo>
                  <a:pt x="1950" y="181"/>
                </a:lnTo>
                <a:lnTo>
                  <a:pt x="1950" y="0"/>
                </a:lnTo>
                <a:lnTo>
                  <a:pt x="2601" y="363"/>
                </a:lnTo>
                <a:lnTo>
                  <a:pt x="1950" y="727"/>
                </a:lnTo>
                <a:lnTo>
                  <a:pt x="1950" y="546"/>
                </a:lnTo>
                <a:lnTo>
                  <a:pt x="0" y="546"/>
                </a:lnTo>
                <a:lnTo>
                  <a:pt x="0" y="181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TextShape 32"/>
          <p:cNvSpPr txBox="1"/>
          <p:nvPr/>
        </p:nvSpPr>
        <p:spPr>
          <a:xfrm>
            <a:off x="1008360" y="720360"/>
            <a:ext cx="2219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Continuous Delivery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07" name="TextShape 33"/>
          <p:cNvSpPr txBox="1"/>
          <p:nvPr/>
        </p:nvSpPr>
        <p:spPr>
          <a:xfrm>
            <a:off x="6480000" y="4536000"/>
            <a:ext cx="1270440" cy="85824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Automate 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Deploye to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production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08" name="TextShape 34"/>
          <p:cNvSpPr txBox="1"/>
          <p:nvPr/>
        </p:nvSpPr>
        <p:spPr>
          <a:xfrm>
            <a:off x="9968400" y="1728000"/>
            <a:ext cx="111960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customer</a:t>
            </a:r>
            <a:endParaRPr b="0" lang="en-IN" sz="1800" spc="-1" strike="noStrike">
              <a:latin typeface="Arial"/>
            </a:endParaRPr>
          </a:p>
        </p:txBody>
      </p:sp>
    </p:spTree>
  </p:cSld>
  <p:timing>
    <p:tnLst>
      <p:par>
        <p:cTn id="41" dur="indefinite" restart="never" nodeType="tmRoot">
          <p:childTnLst>
            <p:seq>
              <p:cTn id="4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CustomShape 1"/>
          <p:cNvSpPr/>
          <p:nvPr/>
        </p:nvSpPr>
        <p:spPr>
          <a:xfrm>
            <a:off x="648000" y="1872000"/>
            <a:ext cx="1728000" cy="2520000"/>
          </a:xfrm>
          <a:prstGeom prst="rect">
            <a:avLst/>
          </a:prstGeom>
          <a:solidFill>
            <a:srgbClr val="21409a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TextShape 2"/>
          <p:cNvSpPr txBox="1"/>
          <p:nvPr/>
        </p:nvSpPr>
        <p:spPr>
          <a:xfrm>
            <a:off x="720000" y="2520000"/>
            <a:ext cx="599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Test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11" name="TextShape 3"/>
          <p:cNvSpPr txBox="1"/>
          <p:nvPr/>
        </p:nvSpPr>
        <p:spPr>
          <a:xfrm>
            <a:off x="1584000" y="2520000"/>
            <a:ext cx="68652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Build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12" name="TextShape 4"/>
          <p:cNvSpPr txBox="1"/>
          <p:nvPr/>
        </p:nvSpPr>
        <p:spPr>
          <a:xfrm>
            <a:off x="696240" y="3816000"/>
            <a:ext cx="599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Test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13" name="TextShape 5"/>
          <p:cNvSpPr txBox="1"/>
          <p:nvPr/>
        </p:nvSpPr>
        <p:spPr>
          <a:xfrm>
            <a:off x="1584000" y="3757680"/>
            <a:ext cx="68652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Build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14" name="CustomShape 6"/>
          <p:cNvSpPr/>
          <p:nvPr/>
        </p:nvSpPr>
        <p:spPr>
          <a:xfrm>
            <a:off x="2412000" y="2592000"/>
            <a:ext cx="1008000" cy="216000"/>
          </a:xfrm>
          <a:custGeom>
            <a:avLst/>
            <a:gdLst/>
            <a:ahLst/>
            <a:rect l="0" t="0" r="r" b="b"/>
            <a:pathLst>
              <a:path w="2802" h="602">
                <a:moveTo>
                  <a:pt x="0" y="150"/>
                </a:moveTo>
                <a:lnTo>
                  <a:pt x="2100" y="150"/>
                </a:lnTo>
                <a:lnTo>
                  <a:pt x="2100" y="0"/>
                </a:lnTo>
                <a:lnTo>
                  <a:pt x="2801" y="300"/>
                </a:lnTo>
                <a:lnTo>
                  <a:pt x="2100" y="601"/>
                </a:lnTo>
                <a:lnTo>
                  <a:pt x="2100" y="450"/>
                </a:lnTo>
                <a:lnTo>
                  <a:pt x="0" y="450"/>
                </a:lnTo>
                <a:lnTo>
                  <a:pt x="0" y="1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CustomShape 7"/>
          <p:cNvSpPr/>
          <p:nvPr/>
        </p:nvSpPr>
        <p:spPr>
          <a:xfrm>
            <a:off x="2412000" y="3816000"/>
            <a:ext cx="1008000" cy="216000"/>
          </a:xfrm>
          <a:custGeom>
            <a:avLst/>
            <a:gdLst/>
            <a:ahLst/>
            <a:rect l="0" t="0" r="r" b="b"/>
            <a:pathLst>
              <a:path w="2802" h="602">
                <a:moveTo>
                  <a:pt x="0" y="150"/>
                </a:moveTo>
                <a:lnTo>
                  <a:pt x="2100" y="150"/>
                </a:lnTo>
                <a:lnTo>
                  <a:pt x="2100" y="0"/>
                </a:lnTo>
                <a:lnTo>
                  <a:pt x="2801" y="300"/>
                </a:lnTo>
                <a:lnTo>
                  <a:pt x="2100" y="601"/>
                </a:lnTo>
                <a:lnTo>
                  <a:pt x="2100" y="450"/>
                </a:lnTo>
                <a:lnTo>
                  <a:pt x="0" y="450"/>
                </a:lnTo>
                <a:lnTo>
                  <a:pt x="0" y="1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TextShape 8"/>
          <p:cNvSpPr txBox="1"/>
          <p:nvPr/>
        </p:nvSpPr>
        <p:spPr>
          <a:xfrm>
            <a:off x="3595680" y="2493720"/>
            <a:ext cx="137232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Acceptance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Testing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17" name="TextShape 9"/>
          <p:cNvSpPr txBox="1"/>
          <p:nvPr/>
        </p:nvSpPr>
        <p:spPr>
          <a:xfrm>
            <a:off x="3523680" y="3645720"/>
            <a:ext cx="137232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Acceptance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Testing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18" name="CustomShape 10"/>
          <p:cNvSpPr/>
          <p:nvPr/>
        </p:nvSpPr>
        <p:spPr>
          <a:xfrm>
            <a:off x="4896000" y="2592000"/>
            <a:ext cx="1008000" cy="216000"/>
          </a:xfrm>
          <a:custGeom>
            <a:avLst/>
            <a:gdLst/>
            <a:ahLst/>
            <a:rect l="0" t="0" r="r" b="b"/>
            <a:pathLst>
              <a:path w="2802" h="602">
                <a:moveTo>
                  <a:pt x="0" y="150"/>
                </a:moveTo>
                <a:lnTo>
                  <a:pt x="2100" y="150"/>
                </a:lnTo>
                <a:lnTo>
                  <a:pt x="2100" y="0"/>
                </a:lnTo>
                <a:lnTo>
                  <a:pt x="2801" y="300"/>
                </a:lnTo>
                <a:lnTo>
                  <a:pt x="2100" y="601"/>
                </a:lnTo>
                <a:lnTo>
                  <a:pt x="2100" y="450"/>
                </a:lnTo>
                <a:lnTo>
                  <a:pt x="0" y="450"/>
                </a:lnTo>
                <a:lnTo>
                  <a:pt x="0" y="1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CustomShape 11"/>
          <p:cNvSpPr/>
          <p:nvPr/>
        </p:nvSpPr>
        <p:spPr>
          <a:xfrm>
            <a:off x="4824000" y="3744000"/>
            <a:ext cx="1008000" cy="216000"/>
          </a:xfrm>
          <a:custGeom>
            <a:avLst/>
            <a:gdLst/>
            <a:ahLst/>
            <a:rect l="0" t="0" r="r" b="b"/>
            <a:pathLst>
              <a:path w="2802" h="602">
                <a:moveTo>
                  <a:pt x="0" y="150"/>
                </a:moveTo>
                <a:lnTo>
                  <a:pt x="2100" y="150"/>
                </a:lnTo>
                <a:lnTo>
                  <a:pt x="2100" y="0"/>
                </a:lnTo>
                <a:lnTo>
                  <a:pt x="2801" y="300"/>
                </a:lnTo>
                <a:lnTo>
                  <a:pt x="2100" y="601"/>
                </a:lnTo>
                <a:lnTo>
                  <a:pt x="2100" y="450"/>
                </a:lnTo>
                <a:lnTo>
                  <a:pt x="0" y="450"/>
                </a:lnTo>
                <a:lnTo>
                  <a:pt x="0" y="1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TextShape 12"/>
          <p:cNvSpPr txBox="1"/>
          <p:nvPr/>
        </p:nvSpPr>
        <p:spPr>
          <a:xfrm>
            <a:off x="5976000" y="2493720"/>
            <a:ext cx="108000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Deploye 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in stage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21" name="TextShape 13"/>
          <p:cNvSpPr txBox="1"/>
          <p:nvPr/>
        </p:nvSpPr>
        <p:spPr>
          <a:xfrm>
            <a:off x="5904000" y="3573720"/>
            <a:ext cx="108000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Deploye 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in stage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22" name="CustomShape 14"/>
          <p:cNvSpPr/>
          <p:nvPr/>
        </p:nvSpPr>
        <p:spPr>
          <a:xfrm>
            <a:off x="6912000" y="2592000"/>
            <a:ext cx="1008000" cy="216000"/>
          </a:xfrm>
          <a:custGeom>
            <a:avLst/>
            <a:gdLst/>
            <a:ahLst/>
            <a:rect l="0" t="0" r="r" b="b"/>
            <a:pathLst>
              <a:path w="2802" h="602">
                <a:moveTo>
                  <a:pt x="0" y="150"/>
                </a:moveTo>
                <a:lnTo>
                  <a:pt x="2100" y="150"/>
                </a:lnTo>
                <a:lnTo>
                  <a:pt x="2100" y="0"/>
                </a:lnTo>
                <a:lnTo>
                  <a:pt x="2801" y="300"/>
                </a:lnTo>
                <a:lnTo>
                  <a:pt x="2100" y="601"/>
                </a:lnTo>
                <a:lnTo>
                  <a:pt x="2100" y="450"/>
                </a:lnTo>
                <a:lnTo>
                  <a:pt x="0" y="450"/>
                </a:lnTo>
                <a:lnTo>
                  <a:pt x="0" y="1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CustomShape 15"/>
          <p:cNvSpPr/>
          <p:nvPr/>
        </p:nvSpPr>
        <p:spPr>
          <a:xfrm>
            <a:off x="6840000" y="3744000"/>
            <a:ext cx="1008000" cy="216000"/>
          </a:xfrm>
          <a:custGeom>
            <a:avLst/>
            <a:gdLst/>
            <a:ahLst/>
            <a:rect l="0" t="0" r="r" b="b"/>
            <a:pathLst>
              <a:path w="2802" h="602">
                <a:moveTo>
                  <a:pt x="0" y="150"/>
                </a:moveTo>
                <a:lnTo>
                  <a:pt x="2100" y="150"/>
                </a:lnTo>
                <a:lnTo>
                  <a:pt x="2100" y="0"/>
                </a:lnTo>
                <a:lnTo>
                  <a:pt x="2801" y="300"/>
                </a:lnTo>
                <a:lnTo>
                  <a:pt x="2100" y="601"/>
                </a:lnTo>
                <a:lnTo>
                  <a:pt x="2100" y="450"/>
                </a:lnTo>
                <a:lnTo>
                  <a:pt x="0" y="450"/>
                </a:lnTo>
                <a:lnTo>
                  <a:pt x="0" y="1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Shape 16"/>
          <p:cNvSpPr txBox="1"/>
          <p:nvPr/>
        </p:nvSpPr>
        <p:spPr>
          <a:xfrm>
            <a:off x="7992000" y="2520000"/>
            <a:ext cx="127044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Deploye to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production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25" name="TextShape 17"/>
          <p:cNvSpPr txBox="1"/>
          <p:nvPr/>
        </p:nvSpPr>
        <p:spPr>
          <a:xfrm>
            <a:off x="7945560" y="3573720"/>
            <a:ext cx="127044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Deploye to</a:t>
            </a:r>
            <a:endParaRPr b="0" lang="en-IN" sz="1800" spc="-1" strike="noStrike">
              <a:latin typeface="Arial"/>
            </a:endParaRPr>
          </a:p>
          <a:p>
            <a:r>
              <a:rPr b="0" lang="en-IN" sz="1800" spc="-1" strike="noStrike">
                <a:latin typeface="Arial"/>
              </a:rPr>
              <a:t>production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26" name="CustomShape 18"/>
          <p:cNvSpPr/>
          <p:nvPr/>
        </p:nvSpPr>
        <p:spPr>
          <a:xfrm>
            <a:off x="9216000" y="2592000"/>
            <a:ext cx="1008000" cy="216000"/>
          </a:xfrm>
          <a:custGeom>
            <a:avLst/>
            <a:gdLst/>
            <a:ahLst/>
            <a:rect l="0" t="0" r="r" b="b"/>
            <a:pathLst>
              <a:path w="2802" h="602">
                <a:moveTo>
                  <a:pt x="0" y="150"/>
                </a:moveTo>
                <a:lnTo>
                  <a:pt x="2100" y="150"/>
                </a:lnTo>
                <a:lnTo>
                  <a:pt x="2100" y="0"/>
                </a:lnTo>
                <a:lnTo>
                  <a:pt x="2801" y="300"/>
                </a:lnTo>
                <a:lnTo>
                  <a:pt x="2100" y="601"/>
                </a:lnTo>
                <a:lnTo>
                  <a:pt x="2100" y="450"/>
                </a:lnTo>
                <a:lnTo>
                  <a:pt x="0" y="450"/>
                </a:lnTo>
                <a:lnTo>
                  <a:pt x="0" y="1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CustomShape 19"/>
          <p:cNvSpPr/>
          <p:nvPr/>
        </p:nvSpPr>
        <p:spPr>
          <a:xfrm>
            <a:off x="9216000" y="3744000"/>
            <a:ext cx="1008000" cy="216000"/>
          </a:xfrm>
          <a:custGeom>
            <a:avLst/>
            <a:gdLst/>
            <a:ahLst/>
            <a:rect l="0" t="0" r="r" b="b"/>
            <a:pathLst>
              <a:path w="2802" h="602">
                <a:moveTo>
                  <a:pt x="0" y="150"/>
                </a:moveTo>
                <a:lnTo>
                  <a:pt x="2100" y="150"/>
                </a:lnTo>
                <a:lnTo>
                  <a:pt x="2100" y="0"/>
                </a:lnTo>
                <a:lnTo>
                  <a:pt x="2801" y="300"/>
                </a:lnTo>
                <a:lnTo>
                  <a:pt x="2100" y="601"/>
                </a:lnTo>
                <a:lnTo>
                  <a:pt x="2100" y="450"/>
                </a:lnTo>
                <a:lnTo>
                  <a:pt x="0" y="450"/>
                </a:lnTo>
                <a:lnTo>
                  <a:pt x="0" y="15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Shape 20"/>
          <p:cNvSpPr txBox="1"/>
          <p:nvPr/>
        </p:nvSpPr>
        <p:spPr>
          <a:xfrm>
            <a:off x="10440000" y="2592000"/>
            <a:ext cx="116964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Customer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29" name="TextShape 21"/>
          <p:cNvSpPr txBox="1"/>
          <p:nvPr/>
        </p:nvSpPr>
        <p:spPr>
          <a:xfrm>
            <a:off x="10440000" y="3672000"/>
            <a:ext cx="116964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Customer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30" name="TextShape 22"/>
          <p:cNvSpPr txBox="1"/>
          <p:nvPr/>
        </p:nvSpPr>
        <p:spPr>
          <a:xfrm>
            <a:off x="8136000" y="2016000"/>
            <a:ext cx="9273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manual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31" name="TextShape 23"/>
          <p:cNvSpPr txBox="1"/>
          <p:nvPr/>
        </p:nvSpPr>
        <p:spPr>
          <a:xfrm>
            <a:off x="8136000" y="4464000"/>
            <a:ext cx="1157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Automate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32" name="TextShape 24"/>
          <p:cNvSpPr txBox="1"/>
          <p:nvPr/>
        </p:nvSpPr>
        <p:spPr>
          <a:xfrm>
            <a:off x="792000" y="1368000"/>
            <a:ext cx="246060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Continuous integration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33" name="TextShape 25"/>
          <p:cNvSpPr txBox="1"/>
          <p:nvPr/>
        </p:nvSpPr>
        <p:spPr>
          <a:xfrm>
            <a:off x="4752000" y="1368000"/>
            <a:ext cx="221976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Continuous Delivery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34" name="TextShape 26"/>
          <p:cNvSpPr txBox="1"/>
          <p:nvPr/>
        </p:nvSpPr>
        <p:spPr>
          <a:xfrm>
            <a:off x="4968000" y="5184000"/>
            <a:ext cx="273960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1800" spc="-1" strike="noStrike">
                <a:latin typeface="Arial"/>
              </a:rPr>
              <a:t>Continuous Deployement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35" name="TextShape 27"/>
          <p:cNvSpPr txBox="1"/>
          <p:nvPr/>
        </p:nvSpPr>
        <p:spPr>
          <a:xfrm>
            <a:off x="4248000" y="576000"/>
            <a:ext cx="3099240" cy="4867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/>
          <a:p>
            <a:r>
              <a:rPr b="0" lang="en-IN" sz="2800" spc="-1" strike="noStrike">
                <a:solidFill>
                  <a:srgbClr val="00a65d"/>
                </a:solidFill>
                <a:latin typeface="Arial"/>
              </a:rPr>
              <a:t>Workflow of CI/CD</a:t>
            </a:r>
            <a:endParaRPr b="0" lang="en-IN" sz="2800" spc="-1" strike="noStrike">
              <a:latin typeface="Arial"/>
            </a:endParaRPr>
          </a:p>
        </p:txBody>
      </p:sp>
    </p:spTree>
  </p:cSld>
  <p:timing>
    <p:tnLst>
      <p:par>
        <p:cTn id="43" dur="indefinite" restart="never" nodeType="tmRoot">
          <p:childTnLst>
            <p:seq>
              <p:cTn id="4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ustomShape 1"/>
          <p:cNvSpPr/>
          <p:nvPr/>
        </p:nvSpPr>
        <p:spPr>
          <a:xfrm>
            <a:off x="1523880" y="457200"/>
            <a:ext cx="9143280" cy="11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>
              <a:lnSpc>
                <a:spcPct val="90000"/>
              </a:lnSpc>
            </a:pPr>
            <a:r>
              <a:rPr b="0" lang="en-IN" sz="3400" spc="-1" strike="noStrike">
                <a:solidFill>
                  <a:srgbClr val="92d050"/>
                </a:solidFill>
                <a:latin typeface="Consolas"/>
              </a:rPr>
              <a:t>Conclusion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1523880" y="1828800"/>
            <a:ext cx="9143280" cy="426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SDLC, Version Control, and CI/CD pipelines are essential for modern software development.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They help teams: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Build software systematically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Manage code efficiently</a:t>
            </a:r>
            <a:endParaRPr b="0" lang="en-IN" sz="2000" spc="-1" strike="noStrike">
              <a:latin typeface="Arial"/>
            </a:endParaRPr>
          </a:p>
          <a:p>
            <a:pPr marL="457200" indent="-4564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Deliver updates quickly and reliably</a:t>
            </a:r>
            <a:endParaRPr b="0" lang="en-IN" sz="20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d9d9d9"/>
                </a:solidFill>
                <a:latin typeface="Candara"/>
              </a:rPr>
              <a:t>Using these tools improves productivity, quality, and scalability.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45" dur="indefinite" restart="never" nodeType="tmRoot">
          <p:childTnLst>
            <p:seq>
              <p:cTn id="4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545</TotalTime>
  <Application>LibreOffice/6.0.7.3$Linux_X86_64 LibreOffice_project/00m0$Build-3</Application>
  <Words>533</Words>
  <Paragraphs>81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2026-03-15T14:03:25Z</dcterms:created>
  <dc:creator>aravind reddy</dc:creator>
  <dc:description/>
  <dc:language>en-IN</dc:language>
  <cp:lastModifiedBy/>
  <dcterms:modified xsi:type="dcterms:W3CDTF">2026-03-18T18:05:37Z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ampaignTags">
    <vt:lpwstr/>
  </property>
  <property fmtid="{D5CDD505-2E9C-101B-9397-08002B2CF9AE}" pid="4" name="ContentTypeId">
    <vt:lpwstr>0x0101006EDDDB5EE6D98C44930B742096920B300400F5B6D36B3EF94B4E9A635CDF2A18F5B8</vt:lpwstr>
  </property>
  <property fmtid="{D5CDD505-2E9C-101B-9397-08002B2CF9AE}" pid="5" name="FeatureTags">
    <vt:lpwstr/>
  </property>
  <property fmtid="{D5CDD505-2E9C-101B-9397-08002B2CF9AE}" pid="6" name="HiddenSlides">
    <vt:i4>0</vt:i4>
  </property>
  <property fmtid="{D5CDD505-2E9C-101B-9397-08002B2CF9AE}" pid="7" name="HyperlinksChanged">
    <vt:bool>0</vt:bool>
  </property>
  <property fmtid="{D5CDD505-2E9C-101B-9397-08002B2CF9AE}" pid="8" name="InternalTags">
    <vt:lpwstr/>
  </property>
  <property fmtid="{D5CDD505-2E9C-101B-9397-08002B2CF9AE}" pid="9" name="LinksUpToDate">
    <vt:bool>0</vt:bool>
  </property>
  <property fmtid="{D5CDD505-2E9C-101B-9397-08002B2CF9AE}" pid="10" name="LocalizationTags">
    <vt:lpwstr/>
  </property>
  <property fmtid="{D5CDD505-2E9C-101B-9397-08002B2CF9AE}" pid="11" name="MMClips">
    <vt:i4>0</vt:i4>
  </property>
  <property fmtid="{D5CDD505-2E9C-101B-9397-08002B2CF9AE}" pid="12" name="Notes">
    <vt:i4>0</vt:i4>
  </property>
  <property fmtid="{D5CDD505-2E9C-101B-9397-08002B2CF9AE}" pid="13" name="PresentationFormat">
    <vt:lpwstr>Widescreen</vt:lpwstr>
  </property>
  <property fmtid="{D5CDD505-2E9C-101B-9397-08002B2CF9AE}" pid="14" name="ScaleCrop">
    <vt:bool>0</vt:bool>
  </property>
  <property fmtid="{D5CDD505-2E9C-101B-9397-08002B2CF9AE}" pid="15" name="ScenarioTags">
    <vt:lpwstr/>
  </property>
  <property fmtid="{D5CDD505-2E9C-101B-9397-08002B2CF9AE}" pid="16" name="ShareDoc">
    <vt:bool>0</vt:bool>
  </property>
  <property fmtid="{D5CDD505-2E9C-101B-9397-08002B2CF9AE}" pid="17" name="Slides">
    <vt:i4>15</vt:i4>
  </property>
</Properties>
</file>